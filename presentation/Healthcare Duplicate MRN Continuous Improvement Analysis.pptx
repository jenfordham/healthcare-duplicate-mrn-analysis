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
  </p:notesMasterIdLst>
  <p:sldIdLst>
    <p:sldId id="256" r:id="rId2"/>
    <p:sldId id="257" r:id="rId3"/>
    <p:sldId id="265" r:id="rId4"/>
    <p:sldId id="264"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491D"/>
    <a:srgbClr val="2E7D32"/>
    <a:srgbClr val="215924"/>
    <a:srgbClr val="F3F8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8438" autoAdjust="0"/>
  </p:normalViewPr>
  <p:slideViewPr>
    <p:cSldViewPr snapToGrid="0">
      <p:cViewPr varScale="1">
        <p:scale>
          <a:sx n="77" d="100"/>
          <a:sy n="77" d="100"/>
        </p:scale>
        <p:origin x="86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DFC07B-46B5-40A7-B02D-48D2AC2BB881}" type="datetimeFigureOut">
              <a:rPr lang="en-US" smtClean="0"/>
              <a:t>7/6/2026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5FF8FE-80C6-42C1-8FD5-896E8BCA2331}" type="slidenum">
              <a:rPr lang="en-US" smtClean="0"/>
              <a:t>‹#›</a:t>
            </a:fld>
            <a:endParaRPr lang="en-US"/>
          </a:p>
        </p:txBody>
      </p:sp>
    </p:spTree>
    <p:extLst>
      <p:ext uri="{BB962C8B-B14F-4D97-AF65-F5344CB8AC3E}">
        <p14:creationId xmlns:p14="http://schemas.microsoft.com/office/powerpoint/2010/main" val="767659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demonstrates an end-to-end healthcare analytics solution focused on reducing duplicate medical record numbers. I used Python, SQL, and Power BI to simulate realistic duplicate investigations, analyze trends, and present actionable recommendations through an interactive dashboard.</a:t>
            </a:r>
          </a:p>
        </p:txBody>
      </p:sp>
      <p:sp>
        <p:nvSpPr>
          <p:cNvPr id="4" name="Slide Number Placeholder 3"/>
          <p:cNvSpPr>
            <a:spLocks noGrp="1"/>
          </p:cNvSpPr>
          <p:nvPr>
            <p:ph type="sldNum" sz="quarter" idx="5"/>
          </p:nvPr>
        </p:nvSpPr>
        <p:spPr/>
        <p:txBody>
          <a:bodyPr/>
          <a:lstStyle/>
          <a:p>
            <a:fld id="{EC5FF8FE-80C6-42C1-8FD5-896E8BCA2331}" type="slidenum">
              <a:rPr lang="en-US" smtClean="0"/>
              <a:t>1</a:t>
            </a:fld>
            <a:endParaRPr lang="en-US"/>
          </a:p>
        </p:txBody>
      </p:sp>
    </p:spTree>
    <p:extLst>
      <p:ext uri="{BB962C8B-B14F-4D97-AF65-F5344CB8AC3E}">
        <p14:creationId xmlns:p14="http://schemas.microsoft.com/office/powerpoint/2010/main" val="1311470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Duplicate MRNs create operational inefficiencies because staff must investigate and merge duplicate patient records. They can also contribute to patient safety risks if information becomes fragmented across multiple records.</a:t>
            </a:r>
          </a:p>
          <a:p>
            <a:endParaRPr lang="en-US" dirty="0"/>
          </a:p>
          <a:p>
            <a:r>
              <a:rPr lang="en-US" dirty="0"/>
              <a:t>Rather than measuring operational performance, my goal was to identify the highest-impact opportunities for improving registration workflows and reducing duplicate record creation.</a:t>
            </a:r>
          </a:p>
          <a:p>
            <a:endParaRPr lang="en-US" dirty="0"/>
          </a:p>
        </p:txBody>
      </p:sp>
      <p:sp>
        <p:nvSpPr>
          <p:cNvPr id="4" name="Slide Number Placeholder 3"/>
          <p:cNvSpPr>
            <a:spLocks noGrp="1"/>
          </p:cNvSpPr>
          <p:nvPr>
            <p:ph type="sldNum" sz="quarter" idx="5"/>
          </p:nvPr>
        </p:nvSpPr>
        <p:spPr/>
        <p:txBody>
          <a:bodyPr/>
          <a:lstStyle/>
          <a:p>
            <a:fld id="{EC5FF8FE-80C6-42C1-8FD5-896E8BCA2331}" type="slidenum">
              <a:rPr lang="en-US" smtClean="0"/>
              <a:t>2</a:t>
            </a:fld>
            <a:endParaRPr lang="en-US"/>
          </a:p>
        </p:txBody>
      </p:sp>
    </p:spTree>
    <p:extLst>
      <p:ext uri="{BB962C8B-B14F-4D97-AF65-F5344CB8AC3E}">
        <p14:creationId xmlns:p14="http://schemas.microsoft.com/office/powerpoint/2010/main" val="3065392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the dashboard, I designed an end-to-end analytics workflow. Starting with the business problem, I applied healthcare domain knowledge to generate a realistic synthetic dataset, analyzed it with SQL, and then built an interactive Power BI dashboard. Synthetic data allowed me to demonstrate the complete analytics process while protecting patient privacy.</a:t>
            </a:r>
          </a:p>
        </p:txBody>
      </p:sp>
      <p:sp>
        <p:nvSpPr>
          <p:cNvPr id="4" name="Slide Number Placeholder 3"/>
          <p:cNvSpPr>
            <a:spLocks noGrp="1"/>
          </p:cNvSpPr>
          <p:nvPr>
            <p:ph type="sldNum" sz="quarter" idx="5"/>
          </p:nvPr>
        </p:nvSpPr>
        <p:spPr/>
        <p:txBody>
          <a:bodyPr/>
          <a:lstStyle/>
          <a:p>
            <a:fld id="{EC5FF8FE-80C6-42C1-8FD5-896E8BCA2331}" type="slidenum">
              <a:rPr lang="en-US" smtClean="0"/>
              <a:t>3</a:t>
            </a:fld>
            <a:endParaRPr lang="en-US"/>
          </a:p>
        </p:txBody>
      </p:sp>
    </p:spTree>
    <p:extLst>
      <p:ext uri="{BB962C8B-B14F-4D97-AF65-F5344CB8AC3E}">
        <p14:creationId xmlns:p14="http://schemas.microsoft.com/office/powerpoint/2010/main" val="3490578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Speaker Notes — How was the solution built?</a:t>
            </a:r>
          </a:p>
          <a:p>
            <a:r>
              <a:rPr lang="en-US" dirty="0"/>
              <a:t>This slide highlights the four primary technical components of the project.</a:t>
            </a:r>
          </a:p>
          <a:p>
            <a:r>
              <a:rPr lang="en-US" dirty="0"/>
              <a:t>First, I used Python to generate a synthetic dataset of 1,000 duplicate MRN investigations. Rather than creating random data, I modeled realistic healthcare registration workflows using weighted probability distributions and source-specific business rules.</a:t>
            </a:r>
          </a:p>
          <a:p>
            <a:endParaRPr lang="en-US" dirty="0"/>
          </a:p>
          <a:p>
            <a:r>
              <a:rPr lang="en-US" dirty="0"/>
              <a:t>Next, I wrote SQL queries to answer the key business questions before building the dashboard. These queries summarized duplicate investigations by source, department, contributing factor, and month.</a:t>
            </a:r>
          </a:p>
          <a:p>
            <a:endParaRPr lang="en-US" dirty="0"/>
          </a:p>
          <a:p>
            <a:r>
              <a:rPr lang="en-US" dirty="0"/>
              <a:t>Finally, I developed a two-page Power BI dashboard designed for continuous improvement. Instead of simply reporting metrics, the dashboard helps stakeholders identify where process changes could reduce duplicate medical records.</a:t>
            </a:r>
          </a:p>
        </p:txBody>
      </p:sp>
      <p:sp>
        <p:nvSpPr>
          <p:cNvPr id="4" name="Slide Number Placeholder 3"/>
          <p:cNvSpPr>
            <a:spLocks noGrp="1"/>
          </p:cNvSpPr>
          <p:nvPr>
            <p:ph type="sldNum" sz="quarter" idx="5"/>
          </p:nvPr>
        </p:nvSpPr>
        <p:spPr/>
        <p:txBody>
          <a:bodyPr/>
          <a:lstStyle/>
          <a:p>
            <a:fld id="{EC5FF8FE-80C6-42C1-8FD5-896E8BCA2331}" type="slidenum">
              <a:rPr lang="en-US" smtClean="0"/>
              <a:t>4</a:t>
            </a:fld>
            <a:endParaRPr lang="en-US"/>
          </a:p>
        </p:txBody>
      </p:sp>
    </p:spTree>
    <p:extLst>
      <p:ext uri="{BB962C8B-B14F-4D97-AF65-F5344CB8AC3E}">
        <p14:creationId xmlns:p14="http://schemas.microsoft.com/office/powerpoint/2010/main" val="1206847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summarizes the primary findings from the analysis. It provides an executive-level view of duplicate investigations, highlighting overall duplicate volume, the highest-volume source, and the most common contributing factors.</a:t>
            </a:r>
          </a:p>
          <a:p>
            <a:endParaRPr lang="en-US" dirty="0"/>
          </a:p>
          <a:p>
            <a:r>
              <a:rPr lang="en-US" dirty="0"/>
              <a:t>Three insights stood out. First, Self-Schedule accounted for the highest proportion of duplicate investigations, suggesting that self-registration workflows are a key area for process improvement. Second, registration data accuracy emerged as the largest opportunity to reduce duplicate record creation. Finally, patient name and date of birth issues represented the majority of duplicate categories, indicating that improvements to patient identification processes could have the greatest impact.</a:t>
            </a:r>
          </a:p>
        </p:txBody>
      </p:sp>
      <p:sp>
        <p:nvSpPr>
          <p:cNvPr id="4" name="Slide Number Placeholder 3"/>
          <p:cNvSpPr>
            <a:spLocks noGrp="1"/>
          </p:cNvSpPr>
          <p:nvPr>
            <p:ph type="sldNum" sz="quarter" idx="5"/>
          </p:nvPr>
        </p:nvSpPr>
        <p:spPr/>
        <p:txBody>
          <a:bodyPr/>
          <a:lstStyle/>
          <a:p>
            <a:fld id="{EC5FF8FE-80C6-42C1-8FD5-896E8BCA2331}" type="slidenum">
              <a:rPr lang="en-US" smtClean="0"/>
              <a:t>5</a:t>
            </a:fld>
            <a:endParaRPr lang="en-US"/>
          </a:p>
        </p:txBody>
      </p:sp>
    </p:spTree>
    <p:extLst>
      <p:ext uri="{BB962C8B-B14F-4D97-AF65-F5344CB8AC3E}">
        <p14:creationId xmlns:p14="http://schemas.microsoft.com/office/powerpoint/2010/main" val="1887811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demonstrates how stakeholders can interact with the dashboard beyond the executive summary. Rather than presenting static metrics, the Opportunity Explorer allows users to filter duplicate investigations by source, department, and service line to identify localized trends.</a:t>
            </a:r>
          </a:p>
          <a:p>
            <a:endParaRPr lang="en-US" dirty="0"/>
          </a:p>
          <a:p>
            <a:r>
              <a:rPr lang="en-US" dirty="0"/>
              <a:t>Users can monitor monthly duplicate patterns, compare duplicate categories across departments, and review individual investigation details. This design supports continuous improvement by helping operational leaders identify where targeted process changes may have the greatest impact.</a:t>
            </a:r>
          </a:p>
        </p:txBody>
      </p:sp>
      <p:sp>
        <p:nvSpPr>
          <p:cNvPr id="4" name="Slide Number Placeholder 3"/>
          <p:cNvSpPr>
            <a:spLocks noGrp="1"/>
          </p:cNvSpPr>
          <p:nvPr>
            <p:ph type="sldNum" sz="quarter" idx="5"/>
          </p:nvPr>
        </p:nvSpPr>
        <p:spPr/>
        <p:txBody>
          <a:bodyPr/>
          <a:lstStyle/>
          <a:p>
            <a:fld id="{EC5FF8FE-80C6-42C1-8FD5-896E8BCA2331}" type="slidenum">
              <a:rPr lang="en-US" smtClean="0"/>
              <a:t>6</a:t>
            </a:fld>
            <a:endParaRPr lang="en-US"/>
          </a:p>
        </p:txBody>
      </p:sp>
    </p:spTree>
    <p:extLst>
      <p:ext uri="{BB962C8B-B14F-4D97-AF65-F5344CB8AC3E}">
        <p14:creationId xmlns:p14="http://schemas.microsoft.com/office/powerpoint/2010/main" val="2033560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process improvement strategies are based on common healthcare quality improvement practices and professional experience.</a:t>
            </a:r>
          </a:p>
          <a:p>
            <a:endParaRPr lang="en-US" dirty="0"/>
          </a:p>
          <a:p>
            <a:r>
              <a:rPr lang="en-US" dirty="0"/>
              <a:t>Based on the analysis, I developed five recommended process improvements that align directly with the highest-impact findings. The recommendations focus on preventing duplicate creation at the source, improving registration accuracy, providing targeted education, and establishing ongoing performance monitoring. </a:t>
            </a:r>
            <a:r>
              <a:rPr lang="en-US"/>
              <a:t>These examples reflect common healthcare quality improvement practices and demonstrate how analytics can inform operational decision-making.</a:t>
            </a:r>
            <a:endParaRPr lang="en-US" dirty="0"/>
          </a:p>
        </p:txBody>
      </p:sp>
      <p:sp>
        <p:nvSpPr>
          <p:cNvPr id="4" name="Slide Number Placeholder 3"/>
          <p:cNvSpPr>
            <a:spLocks noGrp="1"/>
          </p:cNvSpPr>
          <p:nvPr>
            <p:ph type="sldNum" sz="quarter" idx="5"/>
          </p:nvPr>
        </p:nvSpPr>
        <p:spPr/>
        <p:txBody>
          <a:bodyPr/>
          <a:lstStyle/>
          <a:p>
            <a:fld id="{EC5FF8FE-80C6-42C1-8FD5-896E8BCA2331}" type="slidenum">
              <a:rPr lang="en-US" smtClean="0"/>
              <a:t>7</a:t>
            </a:fld>
            <a:endParaRPr lang="en-US"/>
          </a:p>
        </p:txBody>
      </p:sp>
    </p:spTree>
    <p:extLst>
      <p:ext uri="{BB962C8B-B14F-4D97-AF65-F5344CB8AC3E}">
        <p14:creationId xmlns:p14="http://schemas.microsoft.com/office/powerpoint/2010/main" val="1869810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the dataset is synthetic to protect patient privacy, the workflow, business rules, analytical approach, and dashboard design reflect the type of continuous improvement work commonly performed in healthcare analytics.</a:t>
            </a:r>
          </a:p>
        </p:txBody>
      </p:sp>
      <p:sp>
        <p:nvSpPr>
          <p:cNvPr id="4" name="Slide Number Placeholder 3"/>
          <p:cNvSpPr>
            <a:spLocks noGrp="1"/>
          </p:cNvSpPr>
          <p:nvPr>
            <p:ph type="sldNum" sz="quarter" idx="5"/>
          </p:nvPr>
        </p:nvSpPr>
        <p:spPr/>
        <p:txBody>
          <a:bodyPr/>
          <a:lstStyle/>
          <a:p>
            <a:fld id="{EC5FF8FE-80C6-42C1-8FD5-896E8BCA2331}" type="slidenum">
              <a:rPr lang="en-US" smtClean="0"/>
              <a:t>8</a:t>
            </a:fld>
            <a:endParaRPr lang="en-US"/>
          </a:p>
        </p:txBody>
      </p:sp>
    </p:spTree>
    <p:extLst>
      <p:ext uri="{BB962C8B-B14F-4D97-AF65-F5344CB8AC3E}">
        <p14:creationId xmlns:p14="http://schemas.microsoft.com/office/powerpoint/2010/main" val="839085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D5058-8E1E-91BF-79A3-B05F89B6DA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8CBB33-0370-EF08-F721-9106C91243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46FAD4-6784-E458-5561-78072E7DFCA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C82B2B-C2C6-44BD-67A5-DDBFED3DFBA1}"/>
              </a:ext>
            </a:extLst>
          </p:cNvPr>
          <p:cNvSpPr>
            <a:spLocks noGrp="1"/>
          </p:cNvSpPr>
          <p:nvPr>
            <p:ph type="ftr" sz="quarter" idx="11"/>
          </p:nvPr>
        </p:nvSpPr>
        <p:spPr/>
        <p:txBody>
          <a:bodyPr/>
          <a:lstStyle/>
          <a:p>
            <a:r>
              <a:rPr lang="en-US"/>
              <a:t>Healthcare Duplicate MRN Continuous Improvement Analysis • Jen Fordham • 2026</a:t>
            </a:r>
          </a:p>
        </p:txBody>
      </p:sp>
      <p:sp>
        <p:nvSpPr>
          <p:cNvPr id="6" name="Slide Number Placeholder 5">
            <a:extLst>
              <a:ext uri="{FF2B5EF4-FFF2-40B4-BE49-F238E27FC236}">
                <a16:creationId xmlns:a16="http://schemas.microsoft.com/office/drawing/2014/main" id="{DEA0A322-5065-344A-5E97-50AB1933120B}"/>
              </a:ext>
            </a:extLst>
          </p:cNvPr>
          <p:cNvSpPr>
            <a:spLocks noGrp="1"/>
          </p:cNvSpPr>
          <p:nvPr>
            <p:ph type="sldNum" sz="quarter" idx="12"/>
          </p:nvPr>
        </p:nvSpPr>
        <p:spPr/>
        <p:txBody>
          <a:bodyPr/>
          <a:lstStyle/>
          <a:p>
            <a:fld id="{A13C3D9A-01FE-4156-9845-2E98CF52E33A}" type="slidenum">
              <a:rPr lang="en-US" smtClean="0"/>
              <a:t>‹#›</a:t>
            </a:fld>
            <a:endParaRPr lang="en-US"/>
          </a:p>
        </p:txBody>
      </p:sp>
    </p:spTree>
    <p:extLst>
      <p:ext uri="{BB962C8B-B14F-4D97-AF65-F5344CB8AC3E}">
        <p14:creationId xmlns:p14="http://schemas.microsoft.com/office/powerpoint/2010/main" val="2166688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D120D-C13D-659F-94ED-CC9409A84B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F6CF5F-2DD3-93FD-F567-979717847D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F727FF3-207B-24AF-9075-11683346534E}"/>
              </a:ext>
            </a:extLst>
          </p:cNvPr>
          <p:cNvSpPr>
            <a:spLocks noGrp="1"/>
          </p:cNvSpPr>
          <p:nvPr>
            <p:ph type="ftr" sz="quarter" idx="11"/>
          </p:nvPr>
        </p:nvSpPr>
        <p:spPr>
          <a:xfrm>
            <a:off x="1234440" y="6356350"/>
            <a:ext cx="9646920" cy="365125"/>
          </a:xfrm>
        </p:spPr>
        <p:txBody>
          <a:bodyPr/>
          <a:lstStyle/>
          <a:p>
            <a:r>
              <a:rPr lang="en-US" dirty="0"/>
              <a:t>Healthcare Duplicate MRN Continuous Improvement Analysis • Jen Fordham • 2026</a:t>
            </a:r>
          </a:p>
        </p:txBody>
      </p:sp>
      <p:sp>
        <p:nvSpPr>
          <p:cNvPr id="6" name="Slide Number Placeholder 5">
            <a:extLst>
              <a:ext uri="{FF2B5EF4-FFF2-40B4-BE49-F238E27FC236}">
                <a16:creationId xmlns:a16="http://schemas.microsoft.com/office/drawing/2014/main" id="{88A9EA37-B855-7F1D-C860-9B50F6448EA8}"/>
              </a:ext>
            </a:extLst>
          </p:cNvPr>
          <p:cNvSpPr>
            <a:spLocks noGrp="1"/>
          </p:cNvSpPr>
          <p:nvPr>
            <p:ph type="sldNum" sz="quarter" idx="12"/>
          </p:nvPr>
        </p:nvSpPr>
        <p:spPr>
          <a:xfrm>
            <a:off x="10984230" y="6356350"/>
            <a:ext cx="369570" cy="365125"/>
          </a:xfrm>
        </p:spPr>
        <p:txBody>
          <a:bodyPr/>
          <a:lstStyle/>
          <a:p>
            <a:fld id="{A13C3D9A-01FE-4156-9845-2E98CF52E33A}" type="slidenum">
              <a:rPr lang="en-US" smtClean="0"/>
              <a:t>‹#›</a:t>
            </a:fld>
            <a:endParaRPr lang="en-US" dirty="0"/>
          </a:p>
        </p:txBody>
      </p:sp>
    </p:spTree>
    <p:extLst>
      <p:ext uri="{BB962C8B-B14F-4D97-AF65-F5344CB8AC3E}">
        <p14:creationId xmlns:p14="http://schemas.microsoft.com/office/powerpoint/2010/main" val="548452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DC8EA-B0F0-2C40-487B-C81F54F37A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484002-B9A4-FEC6-4B6D-F2F27F57DD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AF5C70-7168-91E9-8372-0676B18BDD5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4745AC4-E68D-2FCF-8F5E-0DC8094D315B}"/>
              </a:ext>
            </a:extLst>
          </p:cNvPr>
          <p:cNvSpPr>
            <a:spLocks noGrp="1"/>
          </p:cNvSpPr>
          <p:nvPr>
            <p:ph type="ftr" sz="quarter" idx="11"/>
          </p:nvPr>
        </p:nvSpPr>
        <p:spPr/>
        <p:txBody>
          <a:bodyPr/>
          <a:lstStyle/>
          <a:p>
            <a:r>
              <a:rPr lang="en-US"/>
              <a:t>Healthcare Duplicate MRN Continuous Improvement Analysis • Jen Fordham • 2026</a:t>
            </a:r>
          </a:p>
        </p:txBody>
      </p:sp>
      <p:sp>
        <p:nvSpPr>
          <p:cNvPr id="6" name="Slide Number Placeholder 5">
            <a:extLst>
              <a:ext uri="{FF2B5EF4-FFF2-40B4-BE49-F238E27FC236}">
                <a16:creationId xmlns:a16="http://schemas.microsoft.com/office/drawing/2014/main" id="{63B1BCF3-C06B-ABC2-5FC9-EA7CAA892618}"/>
              </a:ext>
            </a:extLst>
          </p:cNvPr>
          <p:cNvSpPr>
            <a:spLocks noGrp="1"/>
          </p:cNvSpPr>
          <p:nvPr>
            <p:ph type="sldNum" sz="quarter" idx="12"/>
          </p:nvPr>
        </p:nvSpPr>
        <p:spPr/>
        <p:txBody>
          <a:bodyPr/>
          <a:lstStyle/>
          <a:p>
            <a:fld id="{A13C3D9A-01FE-4156-9845-2E98CF52E33A}" type="slidenum">
              <a:rPr lang="en-US" smtClean="0"/>
              <a:t>‹#›</a:t>
            </a:fld>
            <a:endParaRPr lang="en-US"/>
          </a:p>
        </p:txBody>
      </p:sp>
    </p:spTree>
    <p:extLst>
      <p:ext uri="{BB962C8B-B14F-4D97-AF65-F5344CB8AC3E}">
        <p14:creationId xmlns:p14="http://schemas.microsoft.com/office/powerpoint/2010/main" val="3903449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F76C6-29BD-E137-ABA1-FE6896CF1F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5BA598-5664-4E8A-3EDE-3DCEAD5E86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3E01CC-5F70-4E40-9837-F5A840E2AE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9FF249-D737-E366-651A-75C872342FB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84AECD8-DC65-6A7A-5085-1166B7FA8F7D}"/>
              </a:ext>
            </a:extLst>
          </p:cNvPr>
          <p:cNvSpPr>
            <a:spLocks noGrp="1"/>
          </p:cNvSpPr>
          <p:nvPr>
            <p:ph type="ftr" sz="quarter" idx="11"/>
          </p:nvPr>
        </p:nvSpPr>
        <p:spPr/>
        <p:txBody>
          <a:bodyPr/>
          <a:lstStyle/>
          <a:p>
            <a:r>
              <a:rPr lang="en-US"/>
              <a:t>Healthcare Duplicate MRN Continuous Improvement Analysis • Jen Fordham • 2026</a:t>
            </a:r>
          </a:p>
        </p:txBody>
      </p:sp>
      <p:sp>
        <p:nvSpPr>
          <p:cNvPr id="7" name="Slide Number Placeholder 6">
            <a:extLst>
              <a:ext uri="{FF2B5EF4-FFF2-40B4-BE49-F238E27FC236}">
                <a16:creationId xmlns:a16="http://schemas.microsoft.com/office/drawing/2014/main" id="{4C886BF3-F4A1-D93F-43C0-8C14212067A0}"/>
              </a:ext>
            </a:extLst>
          </p:cNvPr>
          <p:cNvSpPr>
            <a:spLocks noGrp="1"/>
          </p:cNvSpPr>
          <p:nvPr>
            <p:ph type="sldNum" sz="quarter" idx="12"/>
          </p:nvPr>
        </p:nvSpPr>
        <p:spPr/>
        <p:txBody>
          <a:bodyPr/>
          <a:lstStyle/>
          <a:p>
            <a:fld id="{A13C3D9A-01FE-4156-9845-2E98CF52E33A}" type="slidenum">
              <a:rPr lang="en-US" smtClean="0"/>
              <a:t>‹#›</a:t>
            </a:fld>
            <a:endParaRPr lang="en-US"/>
          </a:p>
        </p:txBody>
      </p:sp>
    </p:spTree>
    <p:extLst>
      <p:ext uri="{BB962C8B-B14F-4D97-AF65-F5344CB8AC3E}">
        <p14:creationId xmlns:p14="http://schemas.microsoft.com/office/powerpoint/2010/main" val="3436612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7C2A8-26D4-1DE7-0D46-E4E1E9BC41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0227D4B-99BD-CDF0-D476-AB5A6BF083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4C3DC7-B62C-0A44-1F2C-2BD4115C67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E7ACB0-2E82-389C-5C0A-0B4A064CEC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36B350-8025-9D76-DC84-E731A7D2F5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6CD833-9AED-6545-70E1-E444CA7A5207}"/>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5D4276A8-7227-2582-B659-E0AADAED6713}"/>
              </a:ext>
            </a:extLst>
          </p:cNvPr>
          <p:cNvSpPr>
            <a:spLocks noGrp="1"/>
          </p:cNvSpPr>
          <p:nvPr>
            <p:ph type="ftr" sz="quarter" idx="11"/>
          </p:nvPr>
        </p:nvSpPr>
        <p:spPr/>
        <p:txBody>
          <a:bodyPr/>
          <a:lstStyle/>
          <a:p>
            <a:r>
              <a:rPr lang="en-US"/>
              <a:t>Healthcare Duplicate MRN Continuous Improvement Analysis • Jen Fordham • 2026</a:t>
            </a:r>
          </a:p>
        </p:txBody>
      </p:sp>
      <p:sp>
        <p:nvSpPr>
          <p:cNvPr id="9" name="Slide Number Placeholder 8">
            <a:extLst>
              <a:ext uri="{FF2B5EF4-FFF2-40B4-BE49-F238E27FC236}">
                <a16:creationId xmlns:a16="http://schemas.microsoft.com/office/drawing/2014/main" id="{8FADB5B2-B7DE-E60B-D4E9-1E56CBE99572}"/>
              </a:ext>
            </a:extLst>
          </p:cNvPr>
          <p:cNvSpPr>
            <a:spLocks noGrp="1"/>
          </p:cNvSpPr>
          <p:nvPr>
            <p:ph type="sldNum" sz="quarter" idx="12"/>
          </p:nvPr>
        </p:nvSpPr>
        <p:spPr/>
        <p:txBody>
          <a:bodyPr/>
          <a:lstStyle/>
          <a:p>
            <a:fld id="{A13C3D9A-01FE-4156-9845-2E98CF52E33A}" type="slidenum">
              <a:rPr lang="en-US" smtClean="0"/>
              <a:t>‹#›</a:t>
            </a:fld>
            <a:endParaRPr lang="en-US"/>
          </a:p>
        </p:txBody>
      </p:sp>
    </p:spTree>
    <p:extLst>
      <p:ext uri="{BB962C8B-B14F-4D97-AF65-F5344CB8AC3E}">
        <p14:creationId xmlns:p14="http://schemas.microsoft.com/office/powerpoint/2010/main" val="2595519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49AC7-6645-692B-7045-00DE6C0D77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CB0F36-6B13-FC95-B2C1-657457294C04}"/>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5B28AD14-1D2D-273F-5CAE-E2FC5F155953}"/>
              </a:ext>
            </a:extLst>
          </p:cNvPr>
          <p:cNvSpPr>
            <a:spLocks noGrp="1"/>
          </p:cNvSpPr>
          <p:nvPr>
            <p:ph type="ftr" sz="quarter" idx="11"/>
          </p:nvPr>
        </p:nvSpPr>
        <p:spPr/>
        <p:txBody>
          <a:bodyPr/>
          <a:lstStyle/>
          <a:p>
            <a:r>
              <a:rPr lang="en-US"/>
              <a:t>Healthcare Duplicate MRN Continuous Improvement Analysis • Jen Fordham • 2026</a:t>
            </a:r>
          </a:p>
        </p:txBody>
      </p:sp>
      <p:sp>
        <p:nvSpPr>
          <p:cNvPr id="5" name="Slide Number Placeholder 4">
            <a:extLst>
              <a:ext uri="{FF2B5EF4-FFF2-40B4-BE49-F238E27FC236}">
                <a16:creationId xmlns:a16="http://schemas.microsoft.com/office/drawing/2014/main" id="{5FB35415-7355-DF68-90B2-3C519E78FE20}"/>
              </a:ext>
            </a:extLst>
          </p:cNvPr>
          <p:cNvSpPr>
            <a:spLocks noGrp="1"/>
          </p:cNvSpPr>
          <p:nvPr>
            <p:ph type="sldNum" sz="quarter" idx="12"/>
          </p:nvPr>
        </p:nvSpPr>
        <p:spPr/>
        <p:txBody>
          <a:bodyPr/>
          <a:lstStyle/>
          <a:p>
            <a:fld id="{A13C3D9A-01FE-4156-9845-2E98CF52E33A}" type="slidenum">
              <a:rPr lang="en-US" smtClean="0"/>
              <a:t>‹#›</a:t>
            </a:fld>
            <a:endParaRPr lang="en-US"/>
          </a:p>
        </p:txBody>
      </p:sp>
    </p:spTree>
    <p:extLst>
      <p:ext uri="{BB962C8B-B14F-4D97-AF65-F5344CB8AC3E}">
        <p14:creationId xmlns:p14="http://schemas.microsoft.com/office/powerpoint/2010/main" val="3522553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9F74DC-E568-D5DE-B6AE-691E7A0BA40F}"/>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E440B2DF-7103-7081-CFBD-F02B83F5B42E}"/>
              </a:ext>
            </a:extLst>
          </p:cNvPr>
          <p:cNvSpPr>
            <a:spLocks noGrp="1"/>
          </p:cNvSpPr>
          <p:nvPr>
            <p:ph type="ftr" sz="quarter" idx="11"/>
          </p:nvPr>
        </p:nvSpPr>
        <p:spPr/>
        <p:txBody>
          <a:bodyPr/>
          <a:lstStyle/>
          <a:p>
            <a:r>
              <a:rPr lang="en-US"/>
              <a:t>Healthcare Duplicate MRN Continuous Improvement Analysis • Jen Fordham • 2026</a:t>
            </a:r>
          </a:p>
        </p:txBody>
      </p:sp>
      <p:sp>
        <p:nvSpPr>
          <p:cNvPr id="4" name="Slide Number Placeholder 3">
            <a:extLst>
              <a:ext uri="{FF2B5EF4-FFF2-40B4-BE49-F238E27FC236}">
                <a16:creationId xmlns:a16="http://schemas.microsoft.com/office/drawing/2014/main" id="{B67E5548-1B16-9A18-A4E9-C0EA176B540A}"/>
              </a:ext>
            </a:extLst>
          </p:cNvPr>
          <p:cNvSpPr>
            <a:spLocks noGrp="1"/>
          </p:cNvSpPr>
          <p:nvPr>
            <p:ph type="sldNum" sz="quarter" idx="12"/>
          </p:nvPr>
        </p:nvSpPr>
        <p:spPr/>
        <p:txBody>
          <a:bodyPr/>
          <a:lstStyle/>
          <a:p>
            <a:fld id="{A13C3D9A-01FE-4156-9845-2E98CF52E33A}" type="slidenum">
              <a:rPr lang="en-US" smtClean="0"/>
              <a:t>‹#›</a:t>
            </a:fld>
            <a:endParaRPr lang="en-US"/>
          </a:p>
        </p:txBody>
      </p:sp>
    </p:spTree>
    <p:extLst>
      <p:ext uri="{BB962C8B-B14F-4D97-AF65-F5344CB8AC3E}">
        <p14:creationId xmlns:p14="http://schemas.microsoft.com/office/powerpoint/2010/main" val="3758311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2DC89-1F5B-7281-EA94-B8C19AD515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E49CE4-9E3A-B626-4549-54759FAAA4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51FC0F-B21F-C9D9-1693-A350B03A8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DEF18A-EBB8-9A9F-43AF-7AA4B940E8C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FBB5D6C-32AB-28CB-29DD-E14A540376E3}"/>
              </a:ext>
            </a:extLst>
          </p:cNvPr>
          <p:cNvSpPr>
            <a:spLocks noGrp="1"/>
          </p:cNvSpPr>
          <p:nvPr>
            <p:ph type="ftr" sz="quarter" idx="11"/>
          </p:nvPr>
        </p:nvSpPr>
        <p:spPr/>
        <p:txBody>
          <a:bodyPr/>
          <a:lstStyle/>
          <a:p>
            <a:r>
              <a:rPr lang="en-US"/>
              <a:t>Healthcare Duplicate MRN Continuous Improvement Analysis • Jen Fordham • 2026</a:t>
            </a:r>
          </a:p>
        </p:txBody>
      </p:sp>
      <p:sp>
        <p:nvSpPr>
          <p:cNvPr id="7" name="Slide Number Placeholder 6">
            <a:extLst>
              <a:ext uri="{FF2B5EF4-FFF2-40B4-BE49-F238E27FC236}">
                <a16:creationId xmlns:a16="http://schemas.microsoft.com/office/drawing/2014/main" id="{AA6AA302-ED0E-2BF3-4287-79289AA72833}"/>
              </a:ext>
            </a:extLst>
          </p:cNvPr>
          <p:cNvSpPr>
            <a:spLocks noGrp="1"/>
          </p:cNvSpPr>
          <p:nvPr>
            <p:ph type="sldNum" sz="quarter" idx="12"/>
          </p:nvPr>
        </p:nvSpPr>
        <p:spPr/>
        <p:txBody>
          <a:bodyPr/>
          <a:lstStyle/>
          <a:p>
            <a:fld id="{A13C3D9A-01FE-4156-9845-2E98CF52E33A}" type="slidenum">
              <a:rPr lang="en-US" smtClean="0"/>
              <a:t>‹#›</a:t>
            </a:fld>
            <a:endParaRPr lang="en-US"/>
          </a:p>
        </p:txBody>
      </p:sp>
    </p:spTree>
    <p:extLst>
      <p:ext uri="{BB962C8B-B14F-4D97-AF65-F5344CB8AC3E}">
        <p14:creationId xmlns:p14="http://schemas.microsoft.com/office/powerpoint/2010/main" val="3651881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E2139-CDF1-1FFF-4D14-19345DA1E8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36FCB1-A2C9-62FC-68F6-64E7F7F2DE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5A2CC89-6898-025A-BA6F-4FA9A7B4A9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82D5E8-7A77-A14C-B68C-8CECF22F464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6F23C01-1150-643D-378F-B637DBE99794}"/>
              </a:ext>
            </a:extLst>
          </p:cNvPr>
          <p:cNvSpPr>
            <a:spLocks noGrp="1"/>
          </p:cNvSpPr>
          <p:nvPr>
            <p:ph type="ftr" sz="quarter" idx="11"/>
          </p:nvPr>
        </p:nvSpPr>
        <p:spPr/>
        <p:txBody>
          <a:bodyPr/>
          <a:lstStyle/>
          <a:p>
            <a:r>
              <a:rPr lang="en-US"/>
              <a:t>Healthcare Duplicate MRN Continuous Improvement Analysis • Jen Fordham • 2026</a:t>
            </a:r>
          </a:p>
        </p:txBody>
      </p:sp>
      <p:sp>
        <p:nvSpPr>
          <p:cNvPr id="7" name="Slide Number Placeholder 6">
            <a:extLst>
              <a:ext uri="{FF2B5EF4-FFF2-40B4-BE49-F238E27FC236}">
                <a16:creationId xmlns:a16="http://schemas.microsoft.com/office/drawing/2014/main" id="{B6B20A60-7628-4424-72B3-A75E674B3A70}"/>
              </a:ext>
            </a:extLst>
          </p:cNvPr>
          <p:cNvSpPr>
            <a:spLocks noGrp="1"/>
          </p:cNvSpPr>
          <p:nvPr>
            <p:ph type="sldNum" sz="quarter" idx="12"/>
          </p:nvPr>
        </p:nvSpPr>
        <p:spPr/>
        <p:txBody>
          <a:bodyPr/>
          <a:lstStyle/>
          <a:p>
            <a:fld id="{A13C3D9A-01FE-4156-9845-2E98CF52E33A}" type="slidenum">
              <a:rPr lang="en-US" smtClean="0"/>
              <a:t>‹#›</a:t>
            </a:fld>
            <a:endParaRPr lang="en-US"/>
          </a:p>
        </p:txBody>
      </p:sp>
    </p:spTree>
    <p:extLst>
      <p:ext uri="{BB962C8B-B14F-4D97-AF65-F5344CB8AC3E}">
        <p14:creationId xmlns:p14="http://schemas.microsoft.com/office/powerpoint/2010/main" val="228289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EC99C-3DA0-C112-6C53-2635C199BE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C3DACE-DA00-8000-5A9F-F8014AF68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0972E2-6A02-F672-CBF3-6948882B5AC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19712D2-D2AB-0B82-114F-137749EC2B08}"/>
              </a:ext>
            </a:extLst>
          </p:cNvPr>
          <p:cNvSpPr>
            <a:spLocks noGrp="1"/>
          </p:cNvSpPr>
          <p:nvPr>
            <p:ph type="ftr" sz="quarter" idx="11"/>
          </p:nvPr>
        </p:nvSpPr>
        <p:spPr/>
        <p:txBody>
          <a:bodyPr/>
          <a:lstStyle/>
          <a:p>
            <a:r>
              <a:rPr lang="en-US"/>
              <a:t>Healthcare Duplicate MRN Continuous Improvement Analysis • Jen Fordham • 2026</a:t>
            </a:r>
          </a:p>
        </p:txBody>
      </p:sp>
      <p:sp>
        <p:nvSpPr>
          <p:cNvPr id="6" name="Slide Number Placeholder 5">
            <a:extLst>
              <a:ext uri="{FF2B5EF4-FFF2-40B4-BE49-F238E27FC236}">
                <a16:creationId xmlns:a16="http://schemas.microsoft.com/office/drawing/2014/main" id="{1AF20EF7-EDE2-602E-A79B-F394C07EE0AC}"/>
              </a:ext>
            </a:extLst>
          </p:cNvPr>
          <p:cNvSpPr>
            <a:spLocks noGrp="1"/>
          </p:cNvSpPr>
          <p:nvPr>
            <p:ph type="sldNum" sz="quarter" idx="12"/>
          </p:nvPr>
        </p:nvSpPr>
        <p:spPr/>
        <p:txBody>
          <a:bodyPr/>
          <a:lstStyle/>
          <a:p>
            <a:fld id="{A13C3D9A-01FE-4156-9845-2E98CF52E33A}" type="slidenum">
              <a:rPr lang="en-US" smtClean="0"/>
              <a:t>‹#›</a:t>
            </a:fld>
            <a:endParaRPr lang="en-US"/>
          </a:p>
        </p:txBody>
      </p:sp>
    </p:spTree>
    <p:extLst>
      <p:ext uri="{BB962C8B-B14F-4D97-AF65-F5344CB8AC3E}">
        <p14:creationId xmlns:p14="http://schemas.microsoft.com/office/powerpoint/2010/main" val="1240075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961B35-6AC4-E134-849A-FC695A1A44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C6C75AC-9E9F-DC24-3F8F-2A85885053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046C14-0BBA-AA87-1322-C98EE0C5D8A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47529BC-E0EA-8681-0CEB-E3866BC0B556}"/>
              </a:ext>
            </a:extLst>
          </p:cNvPr>
          <p:cNvSpPr>
            <a:spLocks noGrp="1"/>
          </p:cNvSpPr>
          <p:nvPr>
            <p:ph type="ftr" sz="quarter" idx="11"/>
          </p:nvPr>
        </p:nvSpPr>
        <p:spPr/>
        <p:txBody>
          <a:bodyPr/>
          <a:lstStyle/>
          <a:p>
            <a:r>
              <a:rPr lang="en-US"/>
              <a:t>Healthcare Duplicate MRN Continuous Improvement Analysis • Jen Fordham • 2026</a:t>
            </a:r>
          </a:p>
        </p:txBody>
      </p:sp>
      <p:sp>
        <p:nvSpPr>
          <p:cNvPr id="6" name="Slide Number Placeholder 5">
            <a:extLst>
              <a:ext uri="{FF2B5EF4-FFF2-40B4-BE49-F238E27FC236}">
                <a16:creationId xmlns:a16="http://schemas.microsoft.com/office/drawing/2014/main" id="{B70C444B-9F7D-65C8-52AA-60EE48414D2A}"/>
              </a:ext>
            </a:extLst>
          </p:cNvPr>
          <p:cNvSpPr>
            <a:spLocks noGrp="1"/>
          </p:cNvSpPr>
          <p:nvPr>
            <p:ph type="sldNum" sz="quarter" idx="12"/>
          </p:nvPr>
        </p:nvSpPr>
        <p:spPr/>
        <p:txBody>
          <a:bodyPr/>
          <a:lstStyle/>
          <a:p>
            <a:fld id="{A13C3D9A-01FE-4156-9845-2E98CF52E33A}" type="slidenum">
              <a:rPr lang="en-US" smtClean="0"/>
              <a:t>‹#›</a:t>
            </a:fld>
            <a:endParaRPr lang="en-US"/>
          </a:p>
        </p:txBody>
      </p:sp>
    </p:spTree>
    <p:extLst>
      <p:ext uri="{BB962C8B-B14F-4D97-AF65-F5344CB8AC3E}">
        <p14:creationId xmlns:p14="http://schemas.microsoft.com/office/powerpoint/2010/main" val="260314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F70534-5462-E042-E590-BD3A93CE96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046BE4-479F-1E4D-1051-9B5CCD5044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9BF5C5-5A10-B67E-1F53-6B1E8580B8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8BB4B58B-DABD-04BB-CDD8-C9893510C3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Healthcare Duplicate MRN Continuous Improvement Analysis • Jen Fordham • 2026</a:t>
            </a:r>
          </a:p>
        </p:txBody>
      </p:sp>
      <p:sp>
        <p:nvSpPr>
          <p:cNvPr id="6" name="Slide Number Placeholder 5">
            <a:extLst>
              <a:ext uri="{FF2B5EF4-FFF2-40B4-BE49-F238E27FC236}">
                <a16:creationId xmlns:a16="http://schemas.microsoft.com/office/drawing/2014/main" id="{4F132A09-E067-A02C-4AE8-AA38666617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3C3D9A-01FE-4156-9845-2E98CF52E33A}" type="slidenum">
              <a:rPr lang="en-US" smtClean="0"/>
              <a:t>‹#›</a:t>
            </a:fld>
            <a:endParaRPr lang="en-US"/>
          </a:p>
        </p:txBody>
      </p:sp>
    </p:spTree>
    <p:extLst>
      <p:ext uri="{BB962C8B-B14F-4D97-AF65-F5344CB8AC3E}">
        <p14:creationId xmlns:p14="http://schemas.microsoft.com/office/powerpoint/2010/main" val="39199707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B6792-00C4-1473-4E85-20CF456E7D9B}"/>
              </a:ext>
            </a:extLst>
          </p:cNvPr>
          <p:cNvSpPr>
            <a:spLocks noGrp="1"/>
          </p:cNvSpPr>
          <p:nvPr>
            <p:ph type="ctrTitle"/>
          </p:nvPr>
        </p:nvSpPr>
        <p:spPr>
          <a:xfrm>
            <a:off x="716756" y="693739"/>
            <a:ext cx="10758488" cy="2387600"/>
          </a:xfrm>
        </p:spPr>
        <p:txBody>
          <a:bodyPr>
            <a:normAutofit fontScale="90000"/>
          </a:bodyPr>
          <a:lstStyle/>
          <a:p>
            <a:br>
              <a:rPr lang="en-US" dirty="0"/>
            </a:br>
            <a:r>
              <a:rPr lang="en-US" dirty="0">
                <a:solidFill>
                  <a:srgbClr val="1B491D"/>
                </a:solidFill>
              </a:rPr>
              <a:t>Healthcare Duplicate MRN Continuous Improvement Analysis</a:t>
            </a:r>
          </a:p>
        </p:txBody>
      </p:sp>
      <p:sp>
        <p:nvSpPr>
          <p:cNvPr id="3" name="Subtitle 2">
            <a:extLst>
              <a:ext uri="{FF2B5EF4-FFF2-40B4-BE49-F238E27FC236}">
                <a16:creationId xmlns:a16="http://schemas.microsoft.com/office/drawing/2014/main" id="{27207529-CF90-334C-65C5-FDB9BA35FE2D}"/>
              </a:ext>
            </a:extLst>
          </p:cNvPr>
          <p:cNvSpPr>
            <a:spLocks noGrp="1"/>
          </p:cNvSpPr>
          <p:nvPr>
            <p:ph type="subTitle" idx="1"/>
          </p:nvPr>
        </p:nvSpPr>
        <p:spPr>
          <a:xfrm>
            <a:off x="2212182" y="3730630"/>
            <a:ext cx="7767637" cy="798512"/>
          </a:xfrm>
        </p:spPr>
        <p:txBody>
          <a:bodyPr/>
          <a:lstStyle/>
          <a:p>
            <a:r>
              <a:rPr lang="en-US" dirty="0"/>
              <a:t>Using Python, SQL, and Power BI to Identify Opportunities for Reducing Duplicate MRNs</a:t>
            </a:r>
          </a:p>
        </p:txBody>
      </p:sp>
      <p:sp>
        <p:nvSpPr>
          <p:cNvPr id="4" name="TextBox 3">
            <a:extLst>
              <a:ext uri="{FF2B5EF4-FFF2-40B4-BE49-F238E27FC236}">
                <a16:creationId xmlns:a16="http://schemas.microsoft.com/office/drawing/2014/main" id="{F52CC86A-288A-EB7E-07A3-0621200973E2}"/>
              </a:ext>
            </a:extLst>
          </p:cNvPr>
          <p:cNvSpPr txBox="1"/>
          <p:nvPr/>
        </p:nvSpPr>
        <p:spPr>
          <a:xfrm>
            <a:off x="0" y="4929101"/>
            <a:ext cx="12192000" cy="1477328"/>
          </a:xfrm>
          <a:prstGeom prst="rect">
            <a:avLst/>
          </a:prstGeom>
          <a:noFill/>
        </p:spPr>
        <p:txBody>
          <a:bodyPr wrap="square" rtlCol="0">
            <a:spAutoFit/>
          </a:bodyPr>
          <a:lstStyle/>
          <a:p>
            <a:pPr lvl="0" algn="ctr" eaLnBrk="0" fontAlgn="base" hangingPunct="0">
              <a:spcBef>
                <a:spcPct val="0"/>
              </a:spcBef>
              <a:spcAft>
                <a:spcPct val="0"/>
              </a:spcAft>
            </a:pPr>
            <a:r>
              <a:rPr lang="en-US" dirty="0">
                <a:solidFill>
                  <a:schemeClr val="bg1">
                    <a:lumMod val="50000"/>
                  </a:schemeClr>
                </a:solidFill>
              </a:rPr>
              <a:t>Jen Fordham</a:t>
            </a:r>
            <a:br>
              <a:rPr lang="en-US" dirty="0">
                <a:solidFill>
                  <a:schemeClr val="bg1">
                    <a:lumMod val="50000"/>
                  </a:schemeClr>
                </a:solidFill>
              </a:rPr>
            </a:br>
            <a:br>
              <a:rPr lang="en-US" dirty="0">
                <a:solidFill>
                  <a:schemeClr val="bg1">
                    <a:lumMod val="50000"/>
                  </a:schemeClr>
                </a:solidFill>
              </a:rPr>
            </a:br>
            <a:r>
              <a:rPr lang="en-US" dirty="0">
                <a:solidFill>
                  <a:schemeClr val="bg1">
                    <a:lumMod val="50000"/>
                  </a:schemeClr>
                </a:solidFill>
              </a:rPr>
              <a:t>Healthcare Analytics Portfolio</a:t>
            </a:r>
            <a:br>
              <a:rPr lang="en-US" dirty="0">
                <a:solidFill>
                  <a:schemeClr val="bg1">
                    <a:lumMod val="50000"/>
                  </a:schemeClr>
                </a:solidFill>
              </a:rPr>
            </a:br>
            <a:br>
              <a:rPr lang="en-US" dirty="0">
                <a:solidFill>
                  <a:schemeClr val="bg1">
                    <a:lumMod val="50000"/>
                  </a:schemeClr>
                </a:solidFill>
              </a:rPr>
            </a:br>
            <a:r>
              <a:rPr lang="en-US" dirty="0">
                <a:solidFill>
                  <a:schemeClr val="bg1">
                    <a:lumMod val="50000"/>
                  </a:schemeClr>
                </a:solidFill>
              </a:rPr>
              <a:t>July 2026</a:t>
            </a:r>
            <a:endParaRPr lang="en-US" altLang="en-US" dirty="0">
              <a:solidFill>
                <a:schemeClr val="bg1">
                  <a:lumMod val="50000"/>
                </a:schemeClr>
              </a:solidFill>
              <a:latin typeface="Arial" panose="020B0604020202020204" pitchFamily="34" charset="0"/>
            </a:endParaRPr>
          </a:p>
        </p:txBody>
      </p:sp>
      <p:cxnSp>
        <p:nvCxnSpPr>
          <p:cNvPr id="8" name="Straight Connector 7">
            <a:extLst>
              <a:ext uri="{FF2B5EF4-FFF2-40B4-BE49-F238E27FC236}">
                <a16:creationId xmlns:a16="http://schemas.microsoft.com/office/drawing/2014/main" id="{819BEBE4-CB1C-5200-E83C-1BE3FBE65C61}"/>
              </a:ext>
            </a:extLst>
          </p:cNvPr>
          <p:cNvCxnSpPr>
            <a:cxnSpLocks/>
          </p:cNvCxnSpPr>
          <p:nvPr/>
        </p:nvCxnSpPr>
        <p:spPr>
          <a:xfrm>
            <a:off x="1338858" y="3209923"/>
            <a:ext cx="9514285" cy="0"/>
          </a:xfrm>
          <a:prstGeom prst="line">
            <a:avLst/>
          </a:prstGeom>
          <a:ln w="50800">
            <a:solidFill>
              <a:srgbClr val="2E7D32"/>
            </a:solidFill>
          </a:ln>
        </p:spPr>
        <p:style>
          <a:lnRef idx="1">
            <a:schemeClr val="accent1"/>
          </a:lnRef>
          <a:fillRef idx="0">
            <a:schemeClr val="accent1"/>
          </a:fillRef>
          <a:effectRef idx="0">
            <a:schemeClr val="accent1"/>
          </a:effectRef>
          <a:fontRef idx="minor">
            <a:schemeClr val="tx1"/>
          </a:fontRef>
        </p:style>
      </p:cxnSp>
      <p:pic>
        <p:nvPicPr>
          <p:cNvPr id="10" name="Graphic 9" descr="Clipboard">
            <a:extLst>
              <a:ext uri="{FF2B5EF4-FFF2-40B4-BE49-F238E27FC236}">
                <a16:creationId xmlns:a16="http://schemas.microsoft.com/office/drawing/2014/main" id="{8C1D64B6-26DE-BD18-A6C8-81DC4BA304F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8799" y="337270"/>
            <a:ext cx="914400" cy="914400"/>
          </a:xfrm>
          <a:prstGeom prst="rect">
            <a:avLst/>
          </a:prstGeom>
        </p:spPr>
      </p:pic>
    </p:spTree>
    <p:extLst>
      <p:ext uri="{BB962C8B-B14F-4D97-AF65-F5344CB8AC3E}">
        <p14:creationId xmlns:p14="http://schemas.microsoft.com/office/powerpoint/2010/main" val="1592948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9D942CF1-3556-83A6-4121-8B5139237E6A}"/>
              </a:ext>
            </a:extLst>
          </p:cNvPr>
          <p:cNvSpPr/>
          <p:nvPr/>
        </p:nvSpPr>
        <p:spPr>
          <a:xfrm>
            <a:off x="708422" y="4196362"/>
            <a:ext cx="10815637" cy="2043112"/>
          </a:xfrm>
          <a:prstGeom prst="roundRect">
            <a:avLst/>
          </a:prstGeom>
          <a:solidFill>
            <a:srgbClr val="F3F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817D9902-839F-93FF-5A46-089522B58E9F}"/>
              </a:ext>
            </a:extLst>
          </p:cNvPr>
          <p:cNvSpPr/>
          <p:nvPr/>
        </p:nvSpPr>
        <p:spPr>
          <a:xfrm>
            <a:off x="708422" y="1843088"/>
            <a:ext cx="10815637" cy="2100246"/>
          </a:xfrm>
          <a:prstGeom prst="roundRect">
            <a:avLst/>
          </a:prstGeom>
          <a:solidFill>
            <a:srgbClr val="F3F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DFD01BE-27D7-A34C-906F-A53D4FABCA92}"/>
              </a:ext>
            </a:extLst>
          </p:cNvPr>
          <p:cNvSpPr>
            <a:spLocks noGrp="1"/>
          </p:cNvSpPr>
          <p:nvPr>
            <p:ph idx="1"/>
          </p:nvPr>
        </p:nvSpPr>
        <p:spPr>
          <a:xfrm>
            <a:off x="971550" y="1959429"/>
            <a:ext cx="10552508" cy="2043647"/>
          </a:xfrm>
        </p:spPr>
        <p:txBody>
          <a:bodyPr>
            <a:normAutofit/>
          </a:bodyPr>
          <a:lstStyle/>
          <a:p>
            <a:pPr marL="0" indent="0">
              <a:buNone/>
            </a:pPr>
            <a:r>
              <a:rPr lang="en-US" b="1" dirty="0">
                <a:solidFill>
                  <a:srgbClr val="215924"/>
                </a:solidFill>
              </a:rPr>
              <a:t>Business Problem</a:t>
            </a:r>
          </a:p>
          <a:p>
            <a:pPr marL="0" indent="0">
              <a:buNone/>
            </a:pPr>
            <a:r>
              <a:rPr lang="en-US" sz="2600" dirty="0"/>
              <a:t>Duplicate medical record numbers (MRNs) create operational      inefficiencies, increase duplicate investigation workload, and can contribute to patient safety risks if patient information is fragmented across multiple records.</a:t>
            </a:r>
          </a:p>
        </p:txBody>
      </p:sp>
      <p:sp>
        <p:nvSpPr>
          <p:cNvPr id="6" name="Title 1">
            <a:extLst>
              <a:ext uri="{FF2B5EF4-FFF2-40B4-BE49-F238E27FC236}">
                <a16:creationId xmlns:a16="http://schemas.microsoft.com/office/drawing/2014/main" id="{CFD128EA-6273-50FC-AA77-314D3B11ACCE}"/>
              </a:ext>
            </a:extLst>
          </p:cNvPr>
          <p:cNvSpPr>
            <a:spLocks noGrp="1"/>
          </p:cNvSpPr>
          <p:nvPr>
            <p:ph type="title"/>
          </p:nvPr>
        </p:nvSpPr>
        <p:spPr>
          <a:xfrm>
            <a:off x="2224682" y="365125"/>
            <a:ext cx="9129117" cy="1325563"/>
          </a:xfrm>
        </p:spPr>
        <p:txBody>
          <a:bodyPr/>
          <a:lstStyle/>
          <a:p>
            <a:r>
              <a:rPr lang="en-US" dirty="0">
                <a:solidFill>
                  <a:srgbClr val="1B491D"/>
                </a:solidFill>
              </a:rPr>
              <a:t>What problem are we trying to solve?</a:t>
            </a:r>
          </a:p>
        </p:txBody>
      </p:sp>
      <p:sp>
        <p:nvSpPr>
          <p:cNvPr id="11" name="Footer Placeholder 10">
            <a:extLst>
              <a:ext uri="{FF2B5EF4-FFF2-40B4-BE49-F238E27FC236}">
                <a16:creationId xmlns:a16="http://schemas.microsoft.com/office/drawing/2014/main" id="{88D35102-A6EB-9DAE-EB8A-7171CDC9491E}"/>
              </a:ext>
            </a:extLst>
          </p:cNvPr>
          <p:cNvSpPr>
            <a:spLocks noGrp="1"/>
          </p:cNvSpPr>
          <p:nvPr>
            <p:ph type="ftr" sz="quarter" idx="11"/>
          </p:nvPr>
        </p:nvSpPr>
        <p:spPr/>
        <p:txBody>
          <a:bodyPr/>
          <a:lstStyle/>
          <a:p>
            <a:r>
              <a:rPr lang="en-US"/>
              <a:t>Healthcare Duplicate MRN Continuous Improvement Analysis • Jen Fordham • 2026</a:t>
            </a:r>
            <a:endParaRPr lang="en-US" dirty="0"/>
          </a:p>
        </p:txBody>
      </p:sp>
      <p:cxnSp>
        <p:nvCxnSpPr>
          <p:cNvPr id="12" name="Straight Connector 11">
            <a:extLst>
              <a:ext uri="{FF2B5EF4-FFF2-40B4-BE49-F238E27FC236}">
                <a16:creationId xmlns:a16="http://schemas.microsoft.com/office/drawing/2014/main" id="{28CF5678-7B8A-AB6A-5E30-D20C644595B4}"/>
              </a:ext>
            </a:extLst>
          </p:cNvPr>
          <p:cNvCxnSpPr>
            <a:cxnSpLocks/>
          </p:cNvCxnSpPr>
          <p:nvPr/>
        </p:nvCxnSpPr>
        <p:spPr>
          <a:xfrm>
            <a:off x="1338858" y="1538285"/>
            <a:ext cx="9514285" cy="0"/>
          </a:xfrm>
          <a:prstGeom prst="line">
            <a:avLst/>
          </a:prstGeom>
          <a:ln w="50800">
            <a:solidFill>
              <a:srgbClr val="2E7D32"/>
            </a:solidFill>
          </a:ln>
        </p:spPr>
        <p:style>
          <a:lnRef idx="1">
            <a:schemeClr val="accent1"/>
          </a:lnRef>
          <a:fillRef idx="0">
            <a:schemeClr val="accent1"/>
          </a:fillRef>
          <a:effectRef idx="0">
            <a:schemeClr val="accent1"/>
          </a:effectRef>
          <a:fontRef idx="minor">
            <a:schemeClr val="tx1"/>
          </a:fontRef>
        </p:style>
      </p:cxnSp>
      <p:pic>
        <p:nvPicPr>
          <p:cNvPr id="14" name="Graphic 13" descr="Bullseye">
            <a:extLst>
              <a:ext uri="{FF2B5EF4-FFF2-40B4-BE49-F238E27FC236}">
                <a16:creationId xmlns:a16="http://schemas.microsoft.com/office/drawing/2014/main" id="{87E01287-7B26-4A5A-CEF9-6CC4F0FFA86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8092" y="618526"/>
            <a:ext cx="767357" cy="767357"/>
          </a:xfrm>
          <a:prstGeom prst="rect">
            <a:avLst/>
          </a:prstGeom>
        </p:spPr>
      </p:pic>
      <p:sp>
        <p:nvSpPr>
          <p:cNvPr id="18" name="Content Placeholder 2">
            <a:extLst>
              <a:ext uri="{FF2B5EF4-FFF2-40B4-BE49-F238E27FC236}">
                <a16:creationId xmlns:a16="http://schemas.microsoft.com/office/drawing/2014/main" id="{2C765DB3-C759-D9DB-0ACC-81B2F399983A}"/>
              </a:ext>
            </a:extLst>
          </p:cNvPr>
          <p:cNvSpPr txBox="1">
            <a:spLocks/>
          </p:cNvSpPr>
          <p:nvPr/>
        </p:nvSpPr>
        <p:spPr>
          <a:xfrm>
            <a:off x="971550" y="4224661"/>
            <a:ext cx="10552508" cy="20436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215924"/>
                </a:solidFill>
              </a:rPr>
              <a:t>Project Goal</a:t>
            </a:r>
            <a:endParaRPr lang="en-US" dirty="0">
              <a:solidFill>
                <a:srgbClr val="215924"/>
              </a:solidFill>
            </a:endParaRPr>
          </a:p>
          <a:p>
            <a:pPr marL="0" indent="0">
              <a:buNone/>
            </a:pPr>
            <a:r>
              <a:rPr lang="en-US" sz="2600" dirty="0"/>
              <a:t>Identify the highest-impact process improvement opportunities for reducing duplicate MRNs through analysis of duplicate investigation data.</a:t>
            </a:r>
          </a:p>
        </p:txBody>
      </p:sp>
    </p:spTree>
    <p:extLst>
      <p:ext uri="{BB962C8B-B14F-4D97-AF65-F5344CB8AC3E}">
        <p14:creationId xmlns:p14="http://schemas.microsoft.com/office/powerpoint/2010/main" val="4081231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9FADD7F4-75E0-A196-79DC-340C4A3EAF55}"/>
              </a:ext>
            </a:extLst>
          </p:cNvPr>
          <p:cNvSpPr/>
          <p:nvPr/>
        </p:nvSpPr>
        <p:spPr>
          <a:xfrm flipV="1">
            <a:off x="1571625" y="5054865"/>
            <a:ext cx="9281518" cy="1059437"/>
          </a:xfrm>
          <a:prstGeom prst="roundRect">
            <a:avLst/>
          </a:prstGeom>
          <a:solidFill>
            <a:srgbClr val="F3F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2DFA727D-1086-D15B-03C0-B24ED62E24F7}"/>
              </a:ext>
            </a:extLst>
          </p:cNvPr>
          <p:cNvSpPr/>
          <p:nvPr/>
        </p:nvSpPr>
        <p:spPr>
          <a:xfrm>
            <a:off x="6495576" y="1737299"/>
            <a:ext cx="3021209" cy="1893407"/>
          </a:xfrm>
          <a:prstGeom prst="roundRect">
            <a:avLst/>
          </a:prstGeom>
          <a:solidFill>
            <a:srgbClr val="F3F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543E21-12ED-255C-D2A1-CC552A6A627A}"/>
              </a:ext>
            </a:extLst>
          </p:cNvPr>
          <p:cNvSpPr>
            <a:spLocks noGrp="1"/>
          </p:cNvSpPr>
          <p:nvPr>
            <p:ph type="title"/>
          </p:nvPr>
        </p:nvSpPr>
        <p:spPr>
          <a:xfrm>
            <a:off x="2386012" y="365125"/>
            <a:ext cx="8967787" cy="1325563"/>
          </a:xfrm>
        </p:spPr>
        <p:txBody>
          <a:bodyPr/>
          <a:lstStyle/>
          <a:p>
            <a:r>
              <a:rPr lang="en-US" dirty="0">
                <a:solidFill>
                  <a:srgbClr val="1B491D"/>
                </a:solidFill>
              </a:rPr>
              <a:t>How was the solution developed?</a:t>
            </a:r>
          </a:p>
        </p:txBody>
      </p:sp>
      <p:sp>
        <p:nvSpPr>
          <p:cNvPr id="3" name="Content Placeholder 2">
            <a:extLst>
              <a:ext uri="{FF2B5EF4-FFF2-40B4-BE49-F238E27FC236}">
                <a16:creationId xmlns:a16="http://schemas.microsoft.com/office/drawing/2014/main" id="{3C3069A7-D91C-6247-F2BC-2DDA15FA5B0B}"/>
              </a:ext>
            </a:extLst>
          </p:cNvPr>
          <p:cNvSpPr>
            <a:spLocks noGrp="1"/>
          </p:cNvSpPr>
          <p:nvPr>
            <p:ph idx="1"/>
          </p:nvPr>
        </p:nvSpPr>
        <p:spPr>
          <a:xfrm>
            <a:off x="2675215" y="1826468"/>
            <a:ext cx="4234305" cy="2919666"/>
          </a:xfrm>
        </p:spPr>
        <p:txBody>
          <a:bodyPr>
            <a:noAutofit/>
          </a:bodyPr>
          <a:lstStyle/>
          <a:p>
            <a:pPr marL="0" indent="0">
              <a:buNone/>
            </a:pPr>
            <a:r>
              <a:rPr lang="en-US" b="1" dirty="0">
                <a:solidFill>
                  <a:srgbClr val="1B491D"/>
                </a:solidFill>
              </a:rPr>
              <a:t>Workflow</a:t>
            </a:r>
          </a:p>
          <a:p>
            <a:r>
              <a:rPr lang="en-US" sz="2100" dirty="0"/>
              <a:t>Business Problem </a:t>
            </a:r>
          </a:p>
          <a:p>
            <a:r>
              <a:rPr lang="en-US" sz="2100" dirty="0"/>
              <a:t>Domain Knowledge </a:t>
            </a:r>
          </a:p>
          <a:p>
            <a:r>
              <a:rPr lang="en-US" sz="2100" dirty="0"/>
              <a:t>Python Simulation </a:t>
            </a:r>
          </a:p>
          <a:p>
            <a:r>
              <a:rPr lang="en-US" sz="2100" dirty="0"/>
              <a:t>SQL Analysis </a:t>
            </a:r>
          </a:p>
          <a:p>
            <a:r>
              <a:rPr lang="en-US" sz="2100" dirty="0"/>
              <a:t>Power BI Dashboard </a:t>
            </a:r>
          </a:p>
          <a:p>
            <a:r>
              <a:rPr lang="en-US" sz="2100" dirty="0"/>
              <a:t>Recommendations</a:t>
            </a:r>
          </a:p>
        </p:txBody>
      </p:sp>
      <p:sp>
        <p:nvSpPr>
          <p:cNvPr id="9" name="Footer Placeholder 8">
            <a:extLst>
              <a:ext uri="{FF2B5EF4-FFF2-40B4-BE49-F238E27FC236}">
                <a16:creationId xmlns:a16="http://schemas.microsoft.com/office/drawing/2014/main" id="{5491DC23-729E-02B7-611F-C4CA63A26821}"/>
              </a:ext>
            </a:extLst>
          </p:cNvPr>
          <p:cNvSpPr>
            <a:spLocks noGrp="1"/>
          </p:cNvSpPr>
          <p:nvPr>
            <p:ph type="ftr" sz="quarter" idx="11"/>
          </p:nvPr>
        </p:nvSpPr>
        <p:spPr/>
        <p:txBody>
          <a:bodyPr/>
          <a:lstStyle/>
          <a:p>
            <a:r>
              <a:rPr lang="en-US"/>
              <a:t>Healthcare Duplicate MRN Continuous Improvement Analysis • Jen Fordham • 2026</a:t>
            </a:r>
            <a:endParaRPr lang="en-US" dirty="0"/>
          </a:p>
        </p:txBody>
      </p:sp>
      <p:cxnSp>
        <p:nvCxnSpPr>
          <p:cNvPr id="10" name="Straight Connector 9">
            <a:extLst>
              <a:ext uri="{FF2B5EF4-FFF2-40B4-BE49-F238E27FC236}">
                <a16:creationId xmlns:a16="http://schemas.microsoft.com/office/drawing/2014/main" id="{E76B132F-7207-AEA8-13FE-B359E57A60B5}"/>
              </a:ext>
            </a:extLst>
          </p:cNvPr>
          <p:cNvCxnSpPr>
            <a:cxnSpLocks/>
          </p:cNvCxnSpPr>
          <p:nvPr/>
        </p:nvCxnSpPr>
        <p:spPr>
          <a:xfrm>
            <a:off x="1338858" y="1538285"/>
            <a:ext cx="9514285" cy="0"/>
          </a:xfrm>
          <a:prstGeom prst="line">
            <a:avLst/>
          </a:prstGeom>
          <a:ln w="50800">
            <a:solidFill>
              <a:srgbClr val="2E7D32"/>
            </a:solidFill>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1E07AEA8-79E9-C4B8-60D7-6FE7D995D47F}"/>
              </a:ext>
            </a:extLst>
          </p:cNvPr>
          <p:cNvSpPr txBox="1">
            <a:spLocks/>
          </p:cNvSpPr>
          <p:nvPr/>
        </p:nvSpPr>
        <p:spPr>
          <a:xfrm>
            <a:off x="6610470" y="1843090"/>
            <a:ext cx="2906315" cy="22764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rgbClr val="1B491D"/>
                </a:solidFill>
              </a:rPr>
              <a:t>Technology Stack</a:t>
            </a:r>
          </a:p>
          <a:p>
            <a:r>
              <a:rPr lang="en-US" sz="1900" dirty="0"/>
              <a:t>Python (data simulation)</a:t>
            </a:r>
          </a:p>
          <a:p>
            <a:r>
              <a:rPr lang="en-US" sz="1900" dirty="0"/>
              <a:t>SQL (business analysis)</a:t>
            </a:r>
          </a:p>
          <a:p>
            <a:r>
              <a:rPr lang="en-US" sz="1900" dirty="0"/>
              <a:t>Power BI (visualization)</a:t>
            </a:r>
          </a:p>
        </p:txBody>
      </p:sp>
      <p:sp>
        <p:nvSpPr>
          <p:cNvPr id="17" name="TextBox 16">
            <a:extLst>
              <a:ext uri="{FF2B5EF4-FFF2-40B4-BE49-F238E27FC236}">
                <a16:creationId xmlns:a16="http://schemas.microsoft.com/office/drawing/2014/main" id="{F2251A52-E781-08DA-912B-C6F9E736C3EE}"/>
              </a:ext>
            </a:extLst>
          </p:cNvPr>
          <p:cNvSpPr txBox="1"/>
          <p:nvPr/>
        </p:nvSpPr>
        <p:spPr>
          <a:xfrm>
            <a:off x="1728793" y="5101476"/>
            <a:ext cx="9281518" cy="954107"/>
          </a:xfrm>
          <a:prstGeom prst="rect">
            <a:avLst/>
          </a:prstGeom>
          <a:noFill/>
        </p:spPr>
        <p:txBody>
          <a:bodyPr wrap="square" rtlCol="0">
            <a:spAutoFit/>
          </a:bodyPr>
          <a:lstStyle/>
          <a:p>
            <a:r>
              <a:rPr lang="en-US" sz="2000" b="1" dirty="0">
                <a:solidFill>
                  <a:srgbClr val="1B491D"/>
                </a:solidFill>
              </a:rPr>
              <a:t>Why synthetic data?</a:t>
            </a:r>
          </a:p>
          <a:p>
            <a:r>
              <a:rPr lang="en-US" dirty="0"/>
              <a:t>Synthetic data was modeled after realistic healthcare registration workflows to demonstrate an end-to-end analytics solution while protecting patient privacy.</a:t>
            </a:r>
          </a:p>
        </p:txBody>
      </p:sp>
      <p:pic>
        <p:nvPicPr>
          <p:cNvPr id="20" name="Graphic 19" descr="Single gear">
            <a:extLst>
              <a:ext uri="{FF2B5EF4-FFF2-40B4-BE49-F238E27FC236}">
                <a16:creationId xmlns:a16="http://schemas.microsoft.com/office/drawing/2014/main" id="{19C963B1-3722-84B2-AD62-40084D840E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71612" y="554326"/>
            <a:ext cx="914400" cy="914400"/>
          </a:xfrm>
          <a:prstGeom prst="rect">
            <a:avLst/>
          </a:prstGeom>
        </p:spPr>
      </p:pic>
    </p:spTree>
    <p:extLst>
      <p:ext uri="{BB962C8B-B14F-4D97-AF65-F5344CB8AC3E}">
        <p14:creationId xmlns:p14="http://schemas.microsoft.com/office/powerpoint/2010/main" val="4208163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4E0EC0F5-C207-A877-AEDA-96B635493F4D}"/>
              </a:ext>
            </a:extLst>
          </p:cNvPr>
          <p:cNvSpPr/>
          <p:nvPr/>
        </p:nvSpPr>
        <p:spPr>
          <a:xfrm>
            <a:off x="6186292" y="4000770"/>
            <a:ext cx="4919472" cy="2066544"/>
          </a:xfrm>
          <a:prstGeom prst="roundRect">
            <a:avLst/>
          </a:prstGeom>
          <a:solidFill>
            <a:srgbClr val="F3F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08765579-2FAF-1113-6A62-7E8080217371}"/>
              </a:ext>
            </a:extLst>
          </p:cNvPr>
          <p:cNvSpPr/>
          <p:nvPr/>
        </p:nvSpPr>
        <p:spPr>
          <a:xfrm>
            <a:off x="1065116" y="4000770"/>
            <a:ext cx="4919472" cy="2066544"/>
          </a:xfrm>
          <a:prstGeom prst="roundRect">
            <a:avLst/>
          </a:prstGeom>
          <a:solidFill>
            <a:srgbClr val="F3F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473FB954-4ECD-3A81-F867-13D1D6043F99}"/>
              </a:ext>
            </a:extLst>
          </p:cNvPr>
          <p:cNvSpPr/>
          <p:nvPr/>
        </p:nvSpPr>
        <p:spPr>
          <a:xfrm>
            <a:off x="1065116" y="1723056"/>
            <a:ext cx="4919472" cy="2066544"/>
          </a:xfrm>
          <a:prstGeom prst="roundRect">
            <a:avLst/>
          </a:prstGeom>
          <a:solidFill>
            <a:srgbClr val="F3F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50B24F7E-8B16-318B-6A37-9AE421DD4039}"/>
              </a:ext>
            </a:extLst>
          </p:cNvPr>
          <p:cNvSpPr/>
          <p:nvPr/>
        </p:nvSpPr>
        <p:spPr>
          <a:xfrm>
            <a:off x="6186292" y="1740458"/>
            <a:ext cx="4914928" cy="2066602"/>
          </a:xfrm>
          <a:prstGeom prst="roundRect">
            <a:avLst/>
          </a:prstGeom>
          <a:solidFill>
            <a:srgbClr val="F3F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F997EA-C7CC-4707-2884-BE80A89280D7}"/>
              </a:ext>
            </a:extLst>
          </p:cNvPr>
          <p:cNvSpPr>
            <a:spLocks noGrp="1"/>
          </p:cNvSpPr>
          <p:nvPr>
            <p:ph type="title"/>
          </p:nvPr>
        </p:nvSpPr>
        <p:spPr>
          <a:xfrm>
            <a:off x="2702858" y="365125"/>
            <a:ext cx="8650941" cy="1325563"/>
          </a:xfrm>
        </p:spPr>
        <p:txBody>
          <a:bodyPr/>
          <a:lstStyle/>
          <a:p>
            <a:r>
              <a:rPr lang="en-US" dirty="0">
                <a:solidFill>
                  <a:srgbClr val="1B491D"/>
                </a:solidFill>
              </a:rPr>
              <a:t>How was the solution built?</a:t>
            </a:r>
          </a:p>
        </p:txBody>
      </p:sp>
      <p:sp>
        <p:nvSpPr>
          <p:cNvPr id="3" name="Content Placeholder 2">
            <a:extLst>
              <a:ext uri="{FF2B5EF4-FFF2-40B4-BE49-F238E27FC236}">
                <a16:creationId xmlns:a16="http://schemas.microsoft.com/office/drawing/2014/main" id="{5EFE0E6C-B4FC-C917-5AC0-56A101F28DB6}"/>
              </a:ext>
            </a:extLst>
          </p:cNvPr>
          <p:cNvSpPr>
            <a:spLocks noGrp="1"/>
          </p:cNvSpPr>
          <p:nvPr>
            <p:ph idx="1"/>
          </p:nvPr>
        </p:nvSpPr>
        <p:spPr>
          <a:xfrm>
            <a:off x="1335737" y="1892860"/>
            <a:ext cx="5385816" cy="2066544"/>
          </a:xfrm>
        </p:spPr>
        <p:txBody>
          <a:bodyPr>
            <a:noAutofit/>
          </a:bodyPr>
          <a:lstStyle/>
          <a:p>
            <a:pPr marL="0" indent="0">
              <a:buNone/>
            </a:pPr>
            <a:r>
              <a:rPr lang="en-US" sz="2000" b="1" dirty="0"/>
              <a:t>🐍 </a:t>
            </a:r>
            <a:r>
              <a:rPr lang="en-US" sz="2000" b="1" dirty="0">
                <a:solidFill>
                  <a:srgbClr val="2E7D32"/>
                </a:solidFill>
              </a:rPr>
              <a:t>Python Data Generation</a:t>
            </a:r>
          </a:p>
          <a:p>
            <a:r>
              <a:rPr lang="en-US" sz="1800" dirty="0"/>
              <a:t>1,000 synthetic duplicate investigations</a:t>
            </a:r>
          </a:p>
          <a:p>
            <a:r>
              <a:rPr lang="en-US" sz="1800" dirty="0"/>
              <a:t>Weighted probability simulation </a:t>
            </a:r>
          </a:p>
          <a:p>
            <a:r>
              <a:rPr lang="en-US" sz="1800" dirty="0"/>
              <a:t>Source-specific business rules </a:t>
            </a:r>
          </a:p>
          <a:p>
            <a:pPr marL="0" indent="0">
              <a:buNone/>
            </a:pPr>
            <a:endParaRPr lang="en-US" dirty="0"/>
          </a:p>
          <a:p>
            <a:pPr marL="0" indent="0">
              <a:buNone/>
            </a:pPr>
            <a:endParaRPr lang="en-US" dirty="0"/>
          </a:p>
        </p:txBody>
      </p:sp>
      <p:sp>
        <p:nvSpPr>
          <p:cNvPr id="8" name="Footer Placeholder 7">
            <a:extLst>
              <a:ext uri="{FF2B5EF4-FFF2-40B4-BE49-F238E27FC236}">
                <a16:creationId xmlns:a16="http://schemas.microsoft.com/office/drawing/2014/main" id="{68F4A5AD-850C-B6D0-455A-2E7B3A552DD8}"/>
              </a:ext>
            </a:extLst>
          </p:cNvPr>
          <p:cNvSpPr>
            <a:spLocks noGrp="1"/>
          </p:cNvSpPr>
          <p:nvPr>
            <p:ph type="ftr" sz="quarter" idx="11"/>
          </p:nvPr>
        </p:nvSpPr>
        <p:spPr/>
        <p:txBody>
          <a:bodyPr/>
          <a:lstStyle/>
          <a:p>
            <a:r>
              <a:rPr lang="en-US" dirty="0"/>
              <a:t>Healthcare Duplicate MRN Continuous Improvement Analysis • Jen Fordham • 2026</a:t>
            </a:r>
          </a:p>
        </p:txBody>
      </p:sp>
      <p:sp>
        <p:nvSpPr>
          <p:cNvPr id="9" name="Content Placeholder 2">
            <a:extLst>
              <a:ext uri="{FF2B5EF4-FFF2-40B4-BE49-F238E27FC236}">
                <a16:creationId xmlns:a16="http://schemas.microsoft.com/office/drawing/2014/main" id="{DB687BBC-E696-56C8-CD6B-A6F9718538CE}"/>
              </a:ext>
            </a:extLst>
          </p:cNvPr>
          <p:cNvSpPr txBox="1">
            <a:spLocks/>
          </p:cNvSpPr>
          <p:nvPr/>
        </p:nvSpPr>
        <p:spPr>
          <a:xfrm>
            <a:off x="6314064" y="1892860"/>
            <a:ext cx="4655549" cy="19142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t>🧠</a:t>
            </a:r>
            <a:r>
              <a:rPr lang="en-US" sz="2000" b="1" dirty="0">
                <a:solidFill>
                  <a:srgbClr val="2E7D32"/>
                </a:solidFill>
              </a:rPr>
              <a:t> Healthcare Workflow Rules</a:t>
            </a:r>
          </a:p>
          <a:p>
            <a:r>
              <a:rPr lang="en-US" sz="1800" dirty="0"/>
              <a:t>Mutually exclusive contributing factors </a:t>
            </a:r>
          </a:p>
          <a:p>
            <a:r>
              <a:rPr lang="en-US" sz="1800" dirty="0"/>
              <a:t>Realistic healthcare registration workflows </a:t>
            </a:r>
          </a:p>
          <a:p>
            <a:r>
              <a:rPr lang="en-US" sz="1800" dirty="0"/>
              <a:t>Categorized contributing factors into five primary categories</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p:sp>
        <p:nvSpPr>
          <p:cNvPr id="10" name="Content Placeholder 2">
            <a:extLst>
              <a:ext uri="{FF2B5EF4-FFF2-40B4-BE49-F238E27FC236}">
                <a16:creationId xmlns:a16="http://schemas.microsoft.com/office/drawing/2014/main" id="{D1F97471-9B52-EF6C-6313-C9BC8B8D478E}"/>
              </a:ext>
            </a:extLst>
          </p:cNvPr>
          <p:cNvSpPr txBox="1">
            <a:spLocks/>
          </p:cNvSpPr>
          <p:nvPr/>
        </p:nvSpPr>
        <p:spPr>
          <a:xfrm>
            <a:off x="1201267" y="4076939"/>
            <a:ext cx="4783321" cy="19142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 </a:t>
            </a:r>
            <a:r>
              <a:rPr lang="en-US" sz="2000" b="1" dirty="0">
                <a:solidFill>
                  <a:srgbClr val="2E7D32"/>
                </a:solidFill>
              </a:rPr>
              <a:t>SQL Analysis</a:t>
            </a:r>
            <a:endParaRPr lang="en-US" sz="2000" dirty="0">
              <a:solidFill>
                <a:srgbClr val="2E7D32"/>
              </a:solidFill>
            </a:endParaRPr>
          </a:p>
          <a:p>
            <a:pPr lvl="0"/>
            <a:r>
              <a:rPr lang="en-US" sz="1800" dirty="0"/>
              <a:t>Business question-driven SQL queries </a:t>
            </a:r>
          </a:p>
          <a:p>
            <a:r>
              <a:rPr lang="en-US" sz="1800" dirty="0"/>
              <a:t>Aggregated trends using GROUP BY, COUNT, and ORDER BY</a:t>
            </a:r>
          </a:p>
          <a:p>
            <a:r>
              <a:rPr lang="en-US" sz="1800" dirty="0"/>
              <a:t>Summarized trends by source, department, contributing factor, and month</a:t>
            </a:r>
          </a:p>
        </p:txBody>
      </p:sp>
      <p:sp>
        <p:nvSpPr>
          <p:cNvPr id="11" name="Content Placeholder 2">
            <a:extLst>
              <a:ext uri="{FF2B5EF4-FFF2-40B4-BE49-F238E27FC236}">
                <a16:creationId xmlns:a16="http://schemas.microsoft.com/office/drawing/2014/main" id="{6192DFBE-FFBE-7213-9683-5927D26F3C7E}"/>
              </a:ext>
            </a:extLst>
          </p:cNvPr>
          <p:cNvSpPr txBox="1">
            <a:spLocks/>
          </p:cNvSpPr>
          <p:nvPr/>
        </p:nvSpPr>
        <p:spPr>
          <a:xfrm>
            <a:off x="6314064" y="4165811"/>
            <a:ext cx="4787155" cy="19142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sz="2000" b="1" dirty="0"/>
              <a:t>📊 </a:t>
            </a:r>
            <a:r>
              <a:rPr lang="en-US" sz="2000" b="1" dirty="0">
                <a:solidFill>
                  <a:srgbClr val="2E7D32"/>
                </a:solidFill>
              </a:rPr>
              <a:t>Power BI</a:t>
            </a:r>
            <a:endParaRPr lang="en-US" sz="2000" dirty="0">
              <a:solidFill>
                <a:srgbClr val="2E7D32"/>
              </a:solidFill>
            </a:endParaRPr>
          </a:p>
          <a:p>
            <a:pPr lvl="0"/>
            <a:r>
              <a:rPr lang="en-US" sz="1800" dirty="0"/>
              <a:t>Two-page executive dashboard </a:t>
            </a:r>
          </a:p>
          <a:p>
            <a:pPr lvl="0"/>
            <a:r>
              <a:rPr lang="en-US" sz="1800" dirty="0"/>
              <a:t>Interactive Opportunity Explorer </a:t>
            </a:r>
          </a:p>
          <a:p>
            <a:pPr lvl="0"/>
            <a:r>
              <a:rPr lang="en-US" sz="1800" dirty="0"/>
              <a:t>Continuous improvement-focused reporting</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p:cxnSp>
        <p:nvCxnSpPr>
          <p:cNvPr id="12" name="Straight Connector 11">
            <a:extLst>
              <a:ext uri="{FF2B5EF4-FFF2-40B4-BE49-F238E27FC236}">
                <a16:creationId xmlns:a16="http://schemas.microsoft.com/office/drawing/2014/main" id="{D6DA1D26-BC8E-9A81-5EF0-551AE59C4FFC}"/>
              </a:ext>
            </a:extLst>
          </p:cNvPr>
          <p:cNvCxnSpPr>
            <a:cxnSpLocks/>
          </p:cNvCxnSpPr>
          <p:nvPr/>
        </p:nvCxnSpPr>
        <p:spPr>
          <a:xfrm>
            <a:off x="1338858" y="1538285"/>
            <a:ext cx="9514285" cy="0"/>
          </a:xfrm>
          <a:prstGeom prst="line">
            <a:avLst/>
          </a:prstGeom>
          <a:ln w="50800">
            <a:solidFill>
              <a:srgbClr val="2E7D32"/>
            </a:solidFill>
          </a:ln>
        </p:spPr>
        <p:style>
          <a:lnRef idx="1">
            <a:schemeClr val="accent1"/>
          </a:lnRef>
          <a:fillRef idx="0">
            <a:schemeClr val="accent1"/>
          </a:fillRef>
          <a:effectRef idx="0">
            <a:schemeClr val="accent1"/>
          </a:effectRef>
          <a:fontRef idx="minor">
            <a:schemeClr val="tx1"/>
          </a:fontRef>
        </p:style>
      </p:cxnSp>
      <p:pic>
        <p:nvPicPr>
          <p:cNvPr id="18" name="Graphic 17" descr="Tools">
            <a:extLst>
              <a:ext uri="{FF2B5EF4-FFF2-40B4-BE49-F238E27FC236}">
                <a16:creationId xmlns:a16="http://schemas.microsoft.com/office/drawing/2014/main" id="{5D9E28E6-9783-CD36-E604-97CC7CCED8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28799" y="674918"/>
            <a:ext cx="698468" cy="698468"/>
          </a:xfrm>
          <a:prstGeom prst="rect">
            <a:avLst/>
          </a:prstGeom>
        </p:spPr>
      </p:pic>
    </p:spTree>
    <p:extLst>
      <p:ext uri="{BB962C8B-B14F-4D97-AF65-F5344CB8AC3E}">
        <p14:creationId xmlns:p14="http://schemas.microsoft.com/office/powerpoint/2010/main" val="3297152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4892F72-6B65-1AF0-4D3C-5A1B249B2298}"/>
              </a:ext>
            </a:extLst>
          </p:cNvPr>
          <p:cNvPicPr>
            <a:picLocks noChangeAspect="1"/>
          </p:cNvPicPr>
          <p:nvPr/>
        </p:nvPicPr>
        <p:blipFill>
          <a:blip r:embed="rId3"/>
          <a:stretch>
            <a:fillRect/>
          </a:stretch>
        </p:blipFill>
        <p:spPr>
          <a:xfrm>
            <a:off x="7694244" y="2763221"/>
            <a:ext cx="3947566" cy="1761040"/>
          </a:xfrm>
          <a:prstGeom prst="rect">
            <a:avLst/>
          </a:prstGeom>
        </p:spPr>
      </p:pic>
      <p:pic>
        <p:nvPicPr>
          <p:cNvPr id="15" name="Picture 14">
            <a:extLst>
              <a:ext uri="{FF2B5EF4-FFF2-40B4-BE49-F238E27FC236}">
                <a16:creationId xmlns:a16="http://schemas.microsoft.com/office/drawing/2014/main" id="{C3D9B162-2D0D-2BF7-28A3-71193FF4C782}"/>
              </a:ext>
            </a:extLst>
          </p:cNvPr>
          <p:cNvPicPr>
            <a:picLocks noChangeAspect="1"/>
          </p:cNvPicPr>
          <p:nvPr/>
        </p:nvPicPr>
        <p:blipFill>
          <a:blip r:embed="rId4"/>
          <a:stretch>
            <a:fillRect/>
          </a:stretch>
        </p:blipFill>
        <p:spPr>
          <a:xfrm>
            <a:off x="420445" y="2763221"/>
            <a:ext cx="7278524" cy="3406386"/>
          </a:xfrm>
          <a:prstGeom prst="rect">
            <a:avLst/>
          </a:prstGeom>
        </p:spPr>
      </p:pic>
      <p:sp>
        <p:nvSpPr>
          <p:cNvPr id="26" name="Rectangle: Rounded Corners 25">
            <a:extLst>
              <a:ext uri="{FF2B5EF4-FFF2-40B4-BE49-F238E27FC236}">
                <a16:creationId xmlns:a16="http://schemas.microsoft.com/office/drawing/2014/main" id="{62113BF7-A7C6-77AC-AE55-10B7A18E3F9C}"/>
              </a:ext>
            </a:extLst>
          </p:cNvPr>
          <p:cNvSpPr/>
          <p:nvPr/>
        </p:nvSpPr>
        <p:spPr>
          <a:xfrm>
            <a:off x="5163671" y="4756822"/>
            <a:ext cx="6762388" cy="1522954"/>
          </a:xfrm>
          <a:prstGeom prst="roundRect">
            <a:avLst/>
          </a:prstGeom>
          <a:solidFill>
            <a:srgbClr val="F3F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B4C302-EC15-DF3C-794C-50B2B57FFF62}"/>
              </a:ext>
            </a:extLst>
          </p:cNvPr>
          <p:cNvSpPr>
            <a:spLocks noGrp="1"/>
          </p:cNvSpPr>
          <p:nvPr>
            <p:ph type="title"/>
          </p:nvPr>
        </p:nvSpPr>
        <p:spPr>
          <a:xfrm>
            <a:off x="2877671" y="539937"/>
            <a:ext cx="8476128" cy="796410"/>
          </a:xfrm>
        </p:spPr>
        <p:txBody>
          <a:bodyPr/>
          <a:lstStyle/>
          <a:p>
            <a:r>
              <a:rPr lang="en-US" dirty="0">
                <a:solidFill>
                  <a:srgbClr val="1B491D"/>
                </a:solidFill>
              </a:rPr>
              <a:t>What did the analysis reveal?</a:t>
            </a:r>
          </a:p>
        </p:txBody>
      </p:sp>
      <p:sp>
        <p:nvSpPr>
          <p:cNvPr id="11" name="Footer Placeholder 10">
            <a:extLst>
              <a:ext uri="{FF2B5EF4-FFF2-40B4-BE49-F238E27FC236}">
                <a16:creationId xmlns:a16="http://schemas.microsoft.com/office/drawing/2014/main" id="{24B339F7-B3E7-8A7D-86B1-4E5DB2C11D14}"/>
              </a:ext>
            </a:extLst>
          </p:cNvPr>
          <p:cNvSpPr>
            <a:spLocks noGrp="1"/>
          </p:cNvSpPr>
          <p:nvPr>
            <p:ph type="ftr" sz="quarter" idx="11"/>
          </p:nvPr>
        </p:nvSpPr>
        <p:spPr/>
        <p:txBody>
          <a:bodyPr/>
          <a:lstStyle/>
          <a:p>
            <a:r>
              <a:rPr lang="en-US" dirty="0"/>
              <a:t>Healthcare Duplicate MRN Continuous Improvement Analysis • Jen Fordham • 2026</a:t>
            </a:r>
          </a:p>
        </p:txBody>
      </p:sp>
      <p:pic>
        <p:nvPicPr>
          <p:cNvPr id="13" name="Picture 12">
            <a:extLst>
              <a:ext uri="{FF2B5EF4-FFF2-40B4-BE49-F238E27FC236}">
                <a16:creationId xmlns:a16="http://schemas.microsoft.com/office/drawing/2014/main" id="{D6E2140B-2207-E9ED-06A7-B61D3AA0DC4B}"/>
              </a:ext>
            </a:extLst>
          </p:cNvPr>
          <p:cNvPicPr>
            <a:picLocks noChangeAspect="1"/>
          </p:cNvPicPr>
          <p:nvPr/>
        </p:nvPicPr>
        <p:blipFill>
          <a:blip r:embed="rId5"/>
          <a:stretch>
            <a:fillRect/>
          </a:stretch>
        </p:blipFill>
        <p:spPr>
          <a:xfrm>
            <a:off x="420445" y="1605287"/>
            <a:ext cx="11378030" cy="1019503"/>
          </a:xfrm>
          <a:prstGeom prst="rect">
            <a:avLst/>
          </a:prstGeom>
        </p:spPr>
      </p:pic>
      <p:sp>
        <p:nvSpPr>
          <p:cNvPr id="3" name="Content Placeholder 2">
            <a:extLst>
              <a:ext uri="{FF2B5EF4-FFF2-40B4-BE49-F238E27FC236}">
                <a16:creationId xmlns:a16="http://schemas.microsoft.com/office/drawing/2014/main" id="{BB7FBC57-90AB-05D8-72CA-5E9403148C41}"/>
              </a:ext>
            </a:extLst>
          </p:cNvPr>
          <p:cNvSpPr>
            <a:spLocks noGrp="1"/>
          </p:cNvSpPr>
          <p:nvPr>
            <p:ph idx="1"/>
          </p:nvPr>
        </p:nvSpPr>
        <p:spPr>
          <a:xfrm>
            <a:off x="5298144" y="4805133"/>
            <a:ext cx="6627916" cy="1434301"/>
          </a:xfrm>
        </p:spPr>
        <p:txBody>
          <a:bodyPr>
            <a:noAutofit/>
          </a:bodyPr>
          <a:lstStyle/>
          <a:p>
            <a:pPr marL="0" indent="0">
              <a:buNone/>
            </a:pPr>
            <a:r>
              <a:rPr lang="en-US" sz="1800" b="1" dirty="0">
                <a:solidFill>
                  <a:srgbClr val="1B491D"/>
                </a:solidFill>
              </a:rPr>
              <a:t>Key Insights</a:t>
            </a:r>
          </a:p>
          <a:p>
            <a:pPr marL="0" indent="0">
              <a:buNone/>
            </a:pPr>
            <a:r>
              <a:rPr lang="en-US" sz="1500" b="1" dirty="0"/>
              <a:t>① </a:t>
            </a:r>
            <a:r>
              <a:rPr lang="en-US" sz="1600" b="1" dirty="0"/>
              <a:t>Self-Schedule generated the highest duplicate volume (34.5%).</a:t>
            </a:r>
          </a:p>
          <a:p>
            <a:pPr marL="0" indent="0">
              <a:buNone/>
            </a:pPr>
            <a:r>
              <a:rPr lang="en-US" sz="1500" b="1" dirty="0"/>
              <a:t>② Registration data accuracy represents the largest improvement opportunity.</a:t>
            </a:r>
          </a:p>
          <a:p>
            <a:pPr marL="0" indent="0">
              <a:buNone/>
            </a:pPr>
            <a:r>
              <a:rPr lang="en-US" sz="1500" b="1" dirty="0"/>
              <a:t>③ Patient Name and Date of Birth accounted for most duplicate investigations.</a:t>
            </a:r>
          </a:p>
        </p:txBody>
      </p:sp>
      <p:cxnSp>
        <p:nvCxnSpPr>
          <p:cNvPr id="21" name="Straight Connector 20">
            <a:extLst>
              <a:ext uri="{FF2B5EF4-FFF2-40B4-BE49-F238E27FC236}">
                <a16:creationId xmlns:a16="http://schemas.microsoft.com/office/drawing/2014/main" id="{8732ECCA-48FE-5C13-6659-86322BD5A679}"/>
              </a:ext>
            </a:extLst>
          </p:cNvPr>
          <p:cNvCxnSpPr>
            <a:cxnSpLocks/>
          </p:cNvCxnSpPr>
          <p:nvPr/>
        </p:nvCxnSpPr>
        <p:spPr>
          <a:xfrm>
            <a:off x="1338858" y="1417262"/>
            <a:ext cx="9514285" cy="0"/>
          </a:xfrm>
          <a:prstGeom prst="line">
            <a:avLst/>
          </a:prstGeom>
          <a:ln w="50800">
            <a:solidFill>
              <a:srgbClr val="2E7D32"/>
            </a:solidFill>
          </a:ln>
        </p:spPr>
        <p:style>
          <a:lnRef idx="1">
            <a:schemeClr val="accent1"/>
          </a:lnRef>
          <a:fillRef idx="0">
            <a:schemeClr val="accent1"/>
          </a:fillRef>
          <a:effectRef idx="0">
            <a:schemeClr val="accent1"/>
          </a:effectRef>
          <a:fontRef idx="minor">
            <a:schemeClr val="tx1"/>
          </a:fontRef>
        </p:style>
      </p:cxnSp>
      <p:pic>
        <p:nvPicPr>
          <p:cNvPr id="25" name="Graphic 24" descr="Bar chart">
            <a:extLst>
              <a:ext uri="{FF2B5EF4-FFF2-40B4-BE49-F238E27FC236}">
                <a16:creationId xmlns:a16="http://schemas.microsoft.com/office/drawing/2014/main" id="{B94FBF53-28C1-7602-236F-43DBB4A17F3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27891" y="590419"/>
            <a:ext cx="688412" cy="688412"/>
          </a:xfrm>
          <a:prstGeom prst="rect">
            <a:avLst/>
          </a:prstGeom>
        </p:spPr>
      </p:pic>
    </p:spTree>
    <p:extLst>
      <p:ext uri="{BB962C8B-B14F-4D97-AF65-F5344CB8AC3E}">
        <p14:creationId xmlns:p14="http://schemas.microsoft.com/office/powerpoint/2010/main" val="1835565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30D40-2686-7935-6174-CB8FF12E95CC}"/>
              </a:ext>
            </a:extLst>
          </p:cNvPr>
          <p:cNvSpPr>
            <a:spLocks noGrp="1"/>
          </p:cNvSpPr>
          <p:nvPr>
            <p:ph type="title"/>
          </p:nvPr>
        </p:nvSpPr>
        <p:spPr>
          <a:xfrm>
            <a:off x="766483" y="230656"/>
            <a:ext cx="11425518" cy="725016"/>
          </a:xfrm>
        </p:spPr>
        <p:txBody>
          <a:bodyPr>
            <a:normAutofit/>
          </a:bodyPr>
          <a:lstStyle/>
          <a:p>
            <a:r>
              <a:rPr lang="en-US" sz="3700" dirty="0">
                <a:solidFill>
                  <a:srgbClr val="1B491D"/>
                </a:solidFill>
              </a:rPr>
              <a:t>How can stakeholders explore improvement opportunities?</a:t>
            </a:r>
          </a:p>
        </p:txBody>
      </p:sp>
      <p:sp>
        <p:nvSpPr>
          <p:cNvPr id="3" name="Content Placeholder 2">
            <a:extLst>
              <a:ext uri="{FF2B5EF4-FFF2-40B4-BE49-F238E27FC236}">
                <a16:creationId xmlns:a16="http://schemas.microsoft.com/office/drawing/2014/main" id="{2CBD0978-DFE5-B0FB-17AB-2F47F2D3D953}"/>
              </a:ext>
            </a:extLst>
          </p:cNvPr>
          <p:cNvSpPr>
            <a:spLocks noGrp="1"/>
          </p:cNvSpPr>
          <p:nvPr>
            <p:ph idx="1"/>
          </p:nvPr>
        </p:nvSpPr>
        <p:spPr>
          <a:xfrm>
            <a:off x="461159" y="1182217"/>
            <a:ext cx="1867930" cy="5082060"/>
          </a:xfrm>
          <a:solidFill>
            <a:srgbClr val="F3F8F3"/>
          </a:solidFill>
        </p:spPr>
        <p:txBody>
          <a:bodyPr lIns="164592" tIns="137160" rIns="164592" bIns="137160">
            <a:normAutofit fontScale="92500" lnSpcReduction="10000"/>
          </a:bodyPr>
          <a:lstStyle/>
          <a:p>
            <a:pPr marL="0" indent="0">
              <a:lnSpc>
                <a:spcPct val="110000"/>
              </a:lnSpc>
              <a:buNone/>
            </a:pPr>
            <a:r>
              <a:rPr lang="en-US" sz="1600" b="1" dirty="0"/>
              <a:t>Opportunity Explorer </a:t>
            </a:r>
          </a:p>
          <a:p>
            <a:pPr marL="0" indent="0">
              <a:buNone/>
            </a:pPr>
            <a:r>
              <a:rPr lang="en-US" sz="1400" dirty="0"/>
              <a:t>Enables department leaders to investigate duplicate MRN patterns through interactive filtering and drill-down analysis.</a:t>
            </a:r>
          </a:p>
          <a:p>
            <a:pPr marL="0" indent="0">
              <a:buNone/>
            </a:pPr>
            <a:endParaRPr lang="en-US" sz="1400" dirty="0"/>
          </a:p>
          <a:p>
            <a:pPr marL="0" indent="0">
              <a:buNone/>
            </a:pPr>
            <a:r>
              <a:rPr lang="en-US" sz="1600" b="1" dirty="0"/>
              <a:t>Capabilities </a:t>
            </a:r>
          </a:p>
          <a:p>
            <a:pPr marL="0" indent="0">
              <a:buNone/>
            </a:pPr>
            <a:r>
              <a:rPr lang="en-US" sz="1400" dirty="0"/>
              <a:t>✓ Compare duplicate trends by source </a:t>
            </a:r>
          </a:p>
          <a:p>
            <a:pPr marL="0" indent="0">
              <a:buNone/>
            </a:pPr>
            <a:r>
              <a:rPr lang="en-US" sz="1400" dirty="0"/>
              <a:t>✓ Identify high-volume departments</a:t>
            </a:r>
          </a:p>
          <a:p>
            <a:pPr marL="0" indent="0">
              <a:lnSpc>
                <a:spcPct val="120000"/>
              </a:lnSpc>
              <a:buNone/>
            </a:pPr>
            <a:r>
              <a:rPr lang="en-US" sz="1400" dirty="0"/>
              <a:t>✓ Explore service-line trends</a:t>
            </a:r>
          </a:p>
          <a:p>
            <a:pPr marL="0" indent="0">
              <a:buNone/>
            </a:pPr>
            <a:r>
              <a:rPr lang="en-US" sz="1400" dirty="0"/>
              <a:t>✓ Monitor trends over time</a:t>
            </a:r>
          </a:p>
          <a:p>
            <a:pPr marL="0" indent="0">
              <a:buNone/>
            </a:pPr>
            <a:r>
              <a:rPr lang="en-US" sz="1400" dirty="0"/>
              <a:t>✓ Review investigations details</a:t>
            </a:r>
          </a:p>
        </p:txBody>
      </p:sp>
      <p:pic>
        <p:nvPicPr>
          <p:cNvPr id="5" name="Picture 4">
            <a:extLst>
              <a:ext uri="{FF2B5EF4-FFF2-40B4-BE49-F238E27FC236}">
                <a16:creationId xmlns:a16="http://schemas.microsoft.com/office/drawing/2014/main" id="{20AF912E-8705-98B8-30DE-2314CCA2EDE6}"/>
              </a:ext>
            </a:extLst>
          </p:cNvPr>
          <p:cNvPicPr>
            <a:picLocks noChangeAspect="1"/>
          </p:cNvPicPr>
          <p:nvPr/>
        </p:nvPicPr>
        <p:blipFill>
          <a:blip r:embed="rId3"/>
          <a:stretch>
            <a:fillRect/>
          </a:stretch>
        </p:blipFill>
        <p:spPr>
          <a:xfrm>
            <a:off x="2501981" y="1090142"/>
            <a:ext cx="9197602" cy="5174134"/>
          </a:xfrm>
          <a:prstGeom prst="rect">
            <a:avLst/>
          </a:prstGeom>
          <a:effectLst>
            <a:glow rad="63500">
              <a:schemeClr val="accent3">
                <a:satMod val="175000"/>
                <a:alpha val="40000"/>
              </a:schemeClr>
            </a:glow>
          </a:effectLst>
        </p:spPr>
      </p:pic>
      <p:sp>
        <p:nvSpPr>
          <p:cNvPr id="11" name="Footer Placeholder 10">
            <a:extLst>
              <a:ext uri="{FF2B5EF4-FFF2-40B4-BE49-F238E27FC236}">
                <a16:creationId xmlns:a16="http://schemas.microsoft.com/office/drawing/2014/main" id="{846EB5D9-DE1A-E53D-A4C8-E7C4DB82E87A}"/>
              </a:ext>
            </a:extLst>
          </p:cNvPr>
          <p:cNvSpPr>
            <a:spLocks noGrp="1"/>
          </p:cNvSpPr>
          <p:nvPr>
            <p:ph type="ftr" sz="quarter" idx="11"/>
          </p:nvPr>
        </p:nvSpPr>
        <p:spPr/>
        <p:txBody>
          <a:bodyPr/>
          <a:lstStyle/>
          <a:p>
            <a:r>
              <a:rPr lang="en-US" dirty="0"/>
              <a:t>Healthcare Duplicate MRN Continuous Improvement Analysis • Jen Fordham • 2026</a:t>
            </a:r>
          </a:p>
        </p:txBody>
      </p:sp>
      <p:cxnSp>
        <p:nvCxnSpPr>
          <p:cNvPr id="13" name="Straight Connector 12">
            <a:extLst>
              <a:ext uri="{FF2B5EF4-FFF2-40B4-BE49-F238E27FC236}">
                <a16:creationId xmlns:a16="http://schemas.microsoft.com/office/drawing/2014/main" id="{3AEED05B-A8B2-42DF-A382-6D7D7792F781}"/>
              </a:ext>
            </a:extLst>
          </p:cNvPr>
          <p:cNvCxnSpPr>
            <a:cxnSpLocks/>
          </p:cNvCxnSpPr>
          <p:nvPr/>
        </p:nvCxnSpPr>
        <p:spPr>
          <a:xfrm>
            <a:off x="1338858" y="919723"/>
            <a:ext cx="9514285" cy="0"/>
          </a:xfrm>
          <a:prstGeom prst="line">
            <a:avLst/>
          </a:prstGeom>
          <a:ln w="50800">
            <a:solidFill>
              <a:srgbClr val="2E7D32"/>
            </a:solidFill>
          </a:ln>
        </p:spPr>
        <p:style>
          <a:lnRef idx="1">
            <a:schemeClr val="accent1"/>
          </a:lnRef>
          <a:fillRef idx="0">
            <a:schemeClr val="accent1"/>
          </a:fillRef>
          <a:effectRef idx="0">
            <a:schemeClr val="accent1"/>
          </a:effectRef>
          <a:fontRef idx="minor">
            <a:schemeClr val="tx1"/>
          </a:fontRef>
        </p:style>
      </p:cxnSp>
      <p:pic>
        <p:nvPicPr>
          <p:cNvPr id="15" name="Graphic 14" descr="Magnifying glass">
            <a:extLst>
              <a:ext uri="{FF2B5EF4-FFF2-40B4-BE49-F238E27FC236}">
                <a16:creationId xmlns:a16="http://schemas.microsoft.com/office/drawing/2014/main" id="{8AFA245F-1CE3-FB62-4080-261AC0397D9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0498" y="303930"/>
            <a:ext cx="612190" cy="615793"/>
          </a:xfrm>
          <a:prstGeom prst="rect">
            <a:avLst/>
          </a:prstGeom>
        </p:spPr>
      </p:pic>
    </p:spTree>
    <p:extLst>
      <p:ext uri="{BB962C8B-B14F-4D97-AF65-F5344CB8AC3E}">
        <p14:creationId xmlns:p14="http://schemas.microsoft.com/office/powerpoint/2010/main" val="1829983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3C900351-A812-3995-EA2F-493757FD64D5}"/>
              </a:ext>
            </a:extLst>
          </p:cNvPr>
          <p:cNvSpPr/>
          <p:nvPr/>
        </p:nvSpPr>
        <p:spPr>
          <a:xfrm>
            <a:off x="6152475" y="4433560"/>
            <a:ext cx="5486400" cy="1922790"/>
          </a:xfrm>
          <a:prstGeom prst="roundRect">
            <a:avLst/>
          </a:prstGeom>
          <a:solidFill>
            <a:srgbClr val="F3F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BCE7170E-938E-B95C-86B1-E986572B40F5}"/>
              </a:ext>
            </a:extLst>
          </p:cNvPr>
          <p:cNvSpPr/>
          <p:nvPr/>
        </p:nvSpPr>
        <p:spPr>
          <a:xfrm>
            <a:off x="8037476" y="1557641"/>
            <a:ext cx="3657600" cy="2743200"/>
          </a:xfrm>
          <a:prstGeom prst="roundRect">
            <a:avLst/>
          </a:prstGeom>
          <a:solidFill>
            <a:srgbClr val="F3F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7E6977C2-8D5B-D173-3BF6-DDABF4BB0D43}"/>
              </a:ext>
            </a:extLst>
          </p:cNvPr>
          <p:cNvSpPr/>
          <p:nvPr/>
        </p:nvSpPr>
        <p:spPr>
          <a:xfrm>
            <a:off x="603562" y="4433560"/>
            <a:ext cx="5486400" cy="1922790"/>
          </a:xfrm>
          <a:prstGeom prst="roundRect">
            <a:avLst/>
          </a:prstGeom>
          <a:solidFill>
            <a:srgbClr val="F3F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AA2C4EE5-811D-C5F3-502C-4B019B78C4CD}"/>
              </a:ext>
            </a:extLst>
          </p:cNvPr>
          <p:cNvSpPr/>
          <p:nvPr/>
        </p:nvSpPr>
        <p:spPr>
          <a:xfrm>
            <a:off x="4281960" y="1557641"/>
            <a:ext cx="3657600" cy="2743200"/>
          </a:xfrm>
          <a:prstGeom prst="roundRect">
            <a:avLst/>
          </a:prstGeom>
          <a:solidFill>
            <a:srgbClr val="F3F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FF75BD13-3315-F6FE-F413-BFE18C0BAAF6}"/>
              </a:ext>
            </a:extLst>
          </p:cNvPr>
          <p:cNvSpPr/>
          <p:nvPr/>
        </p:nvSpPr>
        <p:spPr>
          <a:xfrm>
            <a:off x="528022" y="1568266"/>
            <a:ext cx="3657600" cy="2743200"/>
          </a:xfrm>
          <a:prstGeom prst="roundRect">
            <a:avLst/>
          </a:prstGeom>
          <a:solidFill>
            <a:srgbClr val="F3F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00DB6E8-E94F-0E59-429A-CBF8A2319490}"/>
              </a:ext>
            </a:extLst>
          </p:cNvPr>
          <p:cNvSpPr>
            <a:spLocks noGrp="1"/>
          </p:cNvSpPr>
          <p:nvPr>
            <p:ph type="title"/>
          </p:nvPr>
        </p:nvSpPr>
        <p:spPr>
          <a:xfrm>
            <a:off x="2057400" y="153257"/>
            <a:ext cx="9296400" cy="1325563"/>
          </a:xfrm>
        </p:spPr>
        <p:txBody>
          <a:bodyPr/>
          <a:lstStyle/>
          <a:p>
            <a:r>
              <a:rPr lang="en-US" dirty="0">
                <a:solidFill>
                  <a:srgbClr val="1B491D"/>
                </a:solidFill>
              </a:rPr>
              <a:t>Recommended Process Improvements</a:t>
            </a:r>
          </a:p>
        </p:txBody>
      </p:sp>
      <p:sp>
        <p:nvSpPr>
          <p:cNvPr id="3" name="Content Placeholder 2">
            <a:extLst>
              <a:ext uri="{FF2B5EF4-FFF2-40B4-BE49-F238E27FC236}">
                <a16:creationId xmlns:a16="http://schemas.microsoft.com/office/drawing/2014/main" id="{E9308AAC-F6A9-5B30-44CA-43414ADA9704}"/>
              </a:ext>
            </a:extLst>
          </p:cNvPr>
          <p:cNvSpPr>
            <a:spLocks noGrp="1"/>
          </p:cNvSpPr>
          <p:nvPr>
            <p:ph idx="1"/>
          </p:nvPr>
        </p:nvSpPr>
        <p:spPr>
          <a:xfrm>
            <a:off x="646755" y="1658718"/>
            <a:ext cx="3420133" cy="2157984"/>
          </a:xfrm>
        </p:spPr>
        <p:txBody>
          <a:bodyPr>
            <a:noAutofit/>
          </a:bodyPr>
          <a:lstStyle/>
          <a:p>
            <a:pPr marL="0" indent="0">
              <a:buNone/>
            </a:pPr>
            <a:r>
              <a:rPr lang="en-US" sz="1900" b="1" dirty="0">
                <a:solidFill>
                  <a:srgbClr val="1B491D"/>
                </a:solidFill>
              </a:rPr>
              <a:t>Improve Self-Schedule Registration</a:t>
            </a:r>
          </a:p>
          <a:p>
            <a:pPr marL="0" indent="0">
              <a:buNone/>
            </a:pPr>
            <a:r>
              <a:rPr lang="en-US" sz="1700" dirty="0"/>
              <a:t>Collaborate with the Self-Schedule team to simplify parent registration workflows and clarify field instructions.</a:t>
            </a:r>
          </a:p>
          <a:p>
            <a:pPr marL="0" indent="0">
              <a:buNone/>
            </a:pPr>
            <a:r>
              <a:rPr lang="en-US" sz="1700" i="1" dirty="0"/>
              <a:t>Addresses the highest-volume duplicate source.</a:t>
            </a:r>
          </a:p>
        </p:txBody>
      </p:sp>
      <p:sp>
        <p:nvSpPr>
          <p:cNvPr id="9" name="Footer Placeholder 8">
            <a:extLst>
              <a:ext uri="{FF2B5EF4-FFF2-40B4-BE49-F238E27FC236}">
                <a16:creationId xmlns:a16="http://schemas.microsoft.com/office/drawing/2014/main" id="{C808E396-7854-274A-36F8-1AE91AF21BF5}"/>
              </a:ext>
            </a:extLst>
          </p:cNvPr>
          <p:cNvSpPr>
            <a:spLocks noGrp="1"/>
          </p:cNvSpPr>
          <p:nvPr>
            <p:ph type="ftr" sz="quarter" idx="11"/>
          </p:nvPr>
        </p:nvSpPr>
        <p:spPr/>
        <p:txBody>
          <a:bodyPr/>
          <a:lstStyle/>
          <a:p>
            <a:r>
              <a:rPr lang="en-US"/>
              <a:t>Healthcare Duplicate MRN Continuous Improvement Analysis • Jen Fordham • 2026</a:t>
            </a:r>
            <a:endParaRPr lang="en-US" dirty="0"/>
          </a:p>
        </p:txBody>
      </p:sp>
      <p:sp>
        <p:nvSpPr>
          <p:cNvPr id="20" name="Content Placeholder 2">
            <a:extLst>
              <a:ext uri="{FF2B5EF4-FFF2-40B4-BE49-F238E27FC236}">
                <a16:creationId xmlns:a16="http://schemas.microsoft.com/office/drawing/2014/main" id="{A5DB0E5A-6FC2-BF2D-7ACF-77A1F20C85C0}"/>
              </a:ext>
            </a:extLst>
          </p:cNvPr>
          <p:cNvSpPr txBox="1">
            <a:spLocks/>
          </p:cNvSpPr>
          <p:nvPr/>
        </p:nvSpPr>
        <p:spPr>
          <a:xfrm>
            <a:off x="4453301" y="1654521"/>
            <a:ext cx="3486259" cy="21535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900" b="1" dirty="0">
                <a:solidFill>
                  <a:srgbClr val="1B491D"/>
                </a:solidFill>
              </a:rPr>
              <a:t>Reinforce Reliable Search Method (RSM)</a:t>
            </a:r>
          </a:p>
          <a:p>
            <a:pPr marL="0" indent="0">
              <a:buNone/>
            </a:pPr>
            <a:r>
              <a:rPr lang="en-US" sz="1800" dirty="0"/>
              <a:t>Reinforce the RSM for internal registration staff and external providers through refresher education and targeted reminders.</a:t>
            </a:r>
          </a:p>
          <a:p>
            <a:pPr marL="0" indent="0">
              <a:buNone/>
            </a:pPr>
            <a:r>
              <a:rPr lang="en-US" sz="1700" i="1" dirty="0"/>
              <a:t>Reduces duplicate creation before new MRNs are generated.</a:t>
            </a:r>
            <a:endParaRPr lang="en-US" sz="1700" dirty="0"/>
          </a:p>
        </p:txBody>
      </p:sp>
      <p:sp>
        <p:nvSpPr>
          <p:cNvPr id="21" name="Content Placeholder 2">
            <a:extLst>
              <a:ext uri="{FF2B5EF4-FFF2-40B4-BE49-F238E27FC236}">
                <a16:creationId xmlns:a16="http://schemas.microsoft.com/office/drawing/2014/main" id="{F9FA0EEA-6ECA-5B5C-812F-C465E06E4461}"/>
              </a:ext>
            </a:extLst>
          </p:cNvPr>
          <p:cNvSpPr txBox="1">
            <a:spLocks/>
          </p:cNvSpPr>
          <p:nvPr/>
        </p:nvSpPr>
        <p:spPr>
          <a:xfrm>
            <a:off x="775255" y="4536847"/>
            <a:ext cx="5171660" cy="15119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900" b="1" dirty="0">
                <a:solidFill>
                  <a:srgbClr val="1B491D"/>
                </a:solidFill>
              </a:rPr>
              <a:t>Targeted Duplicate MRN Training</a:t>
            </a:r>
            <a:endParaRPr lang="en-US" sz="1900" dirty="0">
              <a:solidFill>
                <a:srgbClr val="1B491D"/>
              </a:solidFill>
            </a:endParaRPr>
          </a:p>
          <a:p>
            <a:pPr marL="0" indent="0">
              <a:buNone/>
            </a:pPr>
            <a:r>
              <a:rPr lang="en-US" sz="1700" dirty="0"/>
              <a:t>Require frequent duplicate creators to complete the "Duplicate MRNs &amp; Overlays" learning course.</a:t>
            </a:r>
          </a:p>
          <a:p>
            <a:pPr marL="0" indent="0">
              <a:buNone/>
            </a:pPr>
            <a:r>
              <a:rPr lang="en-US" sz="1700" i="1" dirty="0"/>
              <a:t>Provides targeted coaching based on performance.</a:t>
            </a:r>
            <a:endParaRPr lang="en-US" sz="1700" dirty="0"/>
          </a:p>
        </p:txBody>
      </p:sp>
      <p:sp>
        <p:nvSpPr>
          <p:cNvPr id="22" name="Content Placeholder 2">
            <a:extLst>
              <a:ext uri="{FF2B5EF4-FFF2-40B4-BE49-F238E27FC236}">
                <a16:creationId xmlns:a16="http://schemas.microsoft.com/office/drawing/2014/main" id="{3FCE50D2-5DA4-0FED-9D28-ABAC2BA222ED}"/>
              </a:ext>
            </a:extLst>
          </p:cNvPr>
          <p:cNvSpPr txBox="1">
            <a:spLocks/>
          </p:cNvSpPr>
          <p:nvPr/>
        </p:nvSpPr>
        <p:spPr>
          <a:xfrm>
            <a:off x="6341167" y="4536847"/>
            <a:ext cx="5334031" cy="195361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900" b="1" dirty="0">
                <a:solidFill>
                  <a:srgbClr val="1B491D"/>
                </a:solidFill>
              </a:rPr>
              <a:t>Monitor Department Performance</a:t>
            </a:r>
            <a:endParaRPr lang="en-US" sz="1900" dirty="0">
              <a:solidFill>
                <a:srgbClr val="1B491D"/>
              </a:solidFill>
            </a:endParaRPr>
          </a:p>
          <a:p>
            <a:pPr marL="0" indent="0">
              <a:buNone/>
            </a:pPr>
            <a:r>
              <a:rPr lang="en-US" sz="1700" dirty="0"/>
              <a:t>Provide department leaders with a real-time dashboard and conduct quarterly quality improvement rounding to monitor duplicate trends.</a:t>
            </a:r>
          </a:p>
          <a:p>
            <a:pPr marL="0" indent="0">
              <a:buNone/>
            </a:pPr>
            <a:r>
              <a:rPr lang="en-US" sz="1700" i="1" dirty="0"/>
              <a:t>Supports continuous improvement and accountability.</a:t>
            </a:r>
            <a:endParaRPr lang="en-US" sz="1700" dirty="0"/>
          </a:p>
          <a:p>
            <a:pPr marL="0" indent="0">
              <a:buNone/>
            </a:pPr>
            <a:endParaRPr lang="en-US" sz="2000" dirty="0"/>
          </a:p>
        </p:txBody>
      </p:sp>
      <p:cxnSp>
        <p:nvCxnSpPr>
          <p:cNvPr id="30" name="Straight Connector 29">
            <a:extLst>
              <a:ext uri="{FF2B5EF4-FFF2-40B4-BE49-F238E27FC236}">
                <a16:creationId xmlns:a16="http://schemas.microsoft.com/office/drawing/2014/main" id="{5AECCF71-B208-B663-65E6-655CE3414116}"/>
              </a:ext>
            </a:extLst>
          </p:cNvPr>
          <p:cNvCxnSpPr>
            <a:cxnSpLocks/>
          </p:cNvCxnSpPr>
          <p:nvPr/>
        </p:nvCxnSpPr>
        <p:spPr>
          <a:xfrm>
            <a:off x="1338858" y="1419017"/>
            <a:ext cx="9514285" cy="0"/>
          </a:xfrm>
          <a:prstGeom prst="line">
            <a:avLst/>
          </a:prstGeom>
          <a:ln w="50800">
            <a:solidFill>
              <a:srgbClr val="2E7D32"/>
            </a:solidFill>
          </a:ln>
        </p:spPr>
        <p:style>
          <a:lnRef idx="1">
            <a:schemeClr val="accent1"/>
          </a:lnRef>
          <a:fillRef idx="0">
            <a:schemeClr val="accent1"/>
          </a:fillRef>
          <a:effectRef idx="0">
            <a:schemeClr val="accent1"/>
          </a:effectRef>
          <a:fontRef idx="minor">
            <a:schemeClr val="tx1"/>
          </a:fontRef>
        </p:style>
      </p:cxnSp>
      <p:pic>
        <p:nvPicPr>
          <p:cNvPr id="32" name="Graphic 31" descr="Lightbulb and gear">
            <a:extLst>
              <a:ext uri="{FF2B5EF4-FFF2-40B4-BE49-F238E27FC236}">
                <a16:creationId xmlns:a16="http://schemas.microsoft.com/office/drawing/2014/main" id="{A3D28B8A-6F9A-FAC5-F12A-463271945A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38858" y="520577"/>
            <a:ext cx="718542" cy="718542"/>
          </a:xfrm>
          <a:prstGeom prst="rect">
            <a:avLst/>
          </a:prstGeom>
        </p:spPr>
      </p:pic>
      <p:sp>
        <p:nvSpPr>
          <p:cNvPr id="4" name="TextBox 3">
            <a:extLst>
              <a:ext uri="{FF2B5EF4-FFF2-40B4-BE49-F238E27FC236}">
                <a16:creationId xmlns:a16="http://schemas.microsoft.com/office/drawing/2014/main" id="{0CD20D7B-048D-72FA-1AA4-C20BFDABD78E}"/>
              </a:ext>
            </a:extLst>
          </p:cNvPr>
          <p:cNvSpPr txBox="1"/>
          <p:nvPr/>
        </p:nvSpPr>
        <p:spPr>
          <a:xfrm>
            <a:off x="2077656" y="1060274"/>
            <a:ext cx="6489486" cy="307777"/>
          </a:xfrm>
          <a:prstGeom prst="rect">
            <a:avLst/>
          </a:prstGeom>
          <a:noFill/>
        </p:spPr>
        <p:txBody>
          <a:bodyPr wrap="square" rtlCol="0">
            <a:spAutoFit/>
          </a:bodyPr>
          <a:lstStyle/>
          <a:p>
            <a:r>
              <a:rPr lang="en-US" sz="1400" dirty="0">
                <a:solidFill>
                  <a:schemeClr val="tx1">
                    <a:lumMod val="65000"/>
                    <a:lumOff val="35000"/>
                  </a:schemeClr>
                </a:solidFill>
              </a:rPr>
              <a:t>Recommendations aligned to the highest-impact findings</a:t>
            </a:r>
          </a:p>
        </p:txBody>
      </p:sp>
      <p:sp>
        <p:nvSpPr>
          <p:cNvPr id="5" name="Content Placeholder 2">
            <a:extLst>
              <a:ext uri="{FF2B5EF4-FFF2-40B4-BE49-F238E27FC236}">
                <a16:creationId xmlns:a16="http://schemas.microsoft.com/office/drawing/2014/main" id="{A1033632-F5F4-4ADE-3A7D-7000404A7F4E}"/>
              </a:ext>
            </a:extLst>
          </p:cNvPr>
          <p:cNvSpPr txBox="1">
            <a:spLocks/>
          </p:cNvSpPr>
          <p:nvPr/>
        </p:nvSpPr>
        <p:spPr>
          <a:xfrm>
            <a:off x="8199892" y="1650802"/>
            <a:ext cx="3538726" cy="21535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900" b="1" dirty="0">
                <a:solidFill>
                  <a:srgbClr val="1B491D"/>
                </a:solidFill>
              </a:rPr>
              <a:t>Reinforce Registration Safety Tools</a:t>
            </a:r>
          </a:p>
          <a:p>
            <a:pPr marL="0" indent="0">
              <a:buNone/>
            </a:pPr>
            <a:r>
              <a:rPr lang="en-US" sz="1800" dirty="0"/>
              <a:t>Reinforce use of  safety tools such as </a:t>
            </a:r>
            <a:r>
              <a:rPr lang="en-US" sz="1800" b="1" dirty="0"/>
              <a:t>STAR (Stop, Think, Act, Review)</a:t>
            </a:r>
            <a:r>
              <a:rPr lang="en-US" sz="1800" dirty="0"/>
              <a:t> and </a:t>
            </a:r>
            <a:r>
              <a:rPr lang="en-US" sz="1800" b="1" dirty="0"/>
              <a:t>Repeat-Back</a:t>
            </a:r>
            <a:r>
              <a:rPr lang="en-US" sz="1800" dirty="0"/>
              <a:t> to ensure accurate chart registration and searches.</a:t>
            </a:r>
          </a:p>
          <a:p>
            <a:pPr marL="0" indent="0">
              <a:buNone/>
            </a:pPr>
            <a:r>
              <a:rPr lang="en-US" sz="1700" i="1" dirty="0"/>
              <a:t>Improves registration data accuracy.</a:t>
            </a:r>
            <a:endParaRPr lang="en-US" sz="1700" dirty="0"/>
          </a:p>
        </p:txBody>
      </p:sp>
    </p:spTree>
    <p:extLst>
      <p:ext uri="{BB962C8B-B14F-4D97-AF65-F5344CB8AC3E}">
        <p14:creationId xmlns:p14="http://schemas.microsoft.com/office/powerpoint/2010/main" val="3161248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3E2E5-8F1D-8373-D00D-5488A73E5828}"/>
              </a:ext>
            </a:extLst>
          </p:cNvPr>
          <p:cNvSpPr>
            <a:spLocks noGrp="1"/>
          </p:cNvSpPr>
          <p:nvPr>
            <p:ph type="title"/>
          </p:nvPr>
        </p:nvSpPr>
        <p:spPr>
          <a:xfrm>
            <a:off x="3307976" y="365125"/>
            <a:ext cx="8045824" cy="1325563"/>
          </a:xfrm>
        </p:spPr>
        <p:txBody>
          <a:bodyPr/>
          <a:lstStyle/>
          <a:p>
            <a:r>
              <a:rPr lang="en-US" dirty="0">
                <a:solidFill>
                  <a:srgbClr val="1B491D"/>
                </a:solidFill>
              </a:rPr>
              <a:t>Thank you / Questions</a:t>
            </a:r>
          </a:p>
        </p:txBody>
      </p:sp>
      <p:sp>
        <p:nvSpPr>
          <p:cNvPr id="3" name="Content Placeholder 2">
            <a:extLst>
              <a:ext uri="{FF2B5EF4-FFF2-40B4-BE49-F238E27FC236}">
                <a16:creationId xmlns:a16="http://schemas.microsoft.com/office/drawing/2014/main" id="{A8E7B7AF-FBA4-598A-198A-1D9ADEC5DAA7}"/>
              </a:ext>
            </a:extLst>
          </p:cNvPr>
          <p:cNvSpPr>
            <a:spLocks noGrp="1"/>
          </p:cNvSpPr>
          <p:nvPr>
            <p:ph idx="1"/>
          </p:nvPr>
        </p:nvSpPr>
        <p:spPr>
          <a:xfrm>
            <a:off x="838200" y="2138081"/>
            <a:ext cx="10515600" cy="4038881"/>
          </a:xfrm>
        </p:spPr>
        <p:txBody>
          <a:bodyPr/>
          <a:lstStyle/>
          <a:p>
            <a:pPr marL="0" indent="0" algn="ctr">
              <a:buNone/>
            </a:pPr>
            <a:r>
              <a:rPr lang="en-US" sz="2000" dirty="0"/>
              <a:t>Thank you for your time and feedback.</a:t>
            </a:r>
          </a:p>
          <a:p>
            <a:pPr marL="0" indent="0" algn="ctr">
              <a:buNone/>
            </a:pPr>
            <a:endParaRPr lang="en-US" sz="2000" dirty="0">
              <a:solidFill>
                <a:schemeClr val="bg2">
                  <a:lumMod val="50000"/>
                </a:schemeClr>
              </a:solidFill>
            </a:endParaRPr>
          </a:p>
          <a:p>
            <a:pPr marL="0" indent="0" algn="ctr">
              <a:buNone/>
            </a:pPr>
            <a:endParaRPr lang="en-US" sz="2000" dirty="0">
              <a:solidFill>
                <a:schemeClr val="bg2">
                  <a:lumMod val="50000"/>
                </a:schemeClr>
              </a:solidFill>
            </a:endParaRPr>
          </a:p>
          <a:p>
            <a:pPr marL="0" indent="0" algn="ctr">
              <a:buNone/>
            </a:pPr>
            <a:endParaRPr lang="en-US" sz="2000" dirty="0">
              <a:solidFill>
                <a:schemeClr val="bg2">
                  <a:lumMod val="50000"/>
                </a:schemeClr>
              </a:solidFill>
            </a:endParaRPr>
          </a:p>
          <a:p>
            <a:pPr marL="0" indent="0" algn="ctr">
              <a:buNone/>
            </a:pPr>
            <a:endParaRPr lang="en-US" sz="2000" dirty="0">
              <a:solidFill>
                <a:schemeClr val="bg2">
                  <a:lumMod val="50000"/>
                </a:schemeClr>
              </a:solidFill>
            </a:endParaRPr>
          </a:p>
          <a:p>
            <a:pPr marL="0" indent="0" algn="ctr">
              <a:buNone/>
            </a:pPr>
            <a:endParaRPr lang="en-US" sz="2000" dirty="0">
              <a:solidFill>
                <a:schemeClr val="bg2">
                  <a:lumMod val="50000"/>
                </a:schemeClr>
              </a:solidFill>
            </a:endParaRPr>
          </a:p>
          <a:p>
            <a:pPr marL="0" indent="0" algn="ctr">
              <a:buNone/>
            </a:pPr>
            <a:r>
              <a:rPr lang="en-US" sz="1800" dirty="0">
                <a:solidFill>
                  <a:schemeClr val="bg2">
                    <a:lumMod val="50000"/>
                  </a:schemeClr>
                </a:solidFill>
              </a:rPr>
              <a:t>Jen Fordham</a:t>
            </a:r>
          </a:p>
          <a:p>
            <a:pPr marL="0" indent="0" algn="ctr">
              <a:buNone/>
            </a:pPr>
            <a:r>
              <a:rPr lang="en-US" sz="1800" dirty="0">
                <a:solidFill>
                  <a:schemeClr val="bg2">
                    <a:lumMod val="50000"/>
                  </a:schemeClr>
                </a:solidFill>
              </a:rPr>
              <a:t>Healthcare Analytics Portfolio</a:t>
            </a:r>
          </a:p>
          <a:p>
            <a:pPr marL="0" indent="0" algn="ctr">
              <a:buNone/>
            </a:pPr>
            <a:r>
              <a:rPr lang="en-US" sz="1800" dirty="0">
                <a:solidFill>
                  <a:schemeClr val="bg2">
                    <a:lumMod val="50000"/>
                  </a:schemeClr>
                </a:solidFill>
              </a:rPr>
              <a:t>July 2026</a:t>
            </a:r>
          </a:p>
          <a:p>
            <a:pPr marL="0" indent="0" algn="ctr">
              <a:buNone/>
            </a:pPr>
            <a:endParaRPr lang="en-US" sz="2000" dirty="0">
              <a:solidFill>
                <a:schemeClr val="bg2">
                  <a:lumMod val="50000"/>
                </a:schemeClr>
              </a:solidFill>
            </a:endParaRPr>
          </a:p>
          <a:p>
            <a:pPr marL="0" indent="0" algn="ctr">
              <a:buNone/>
            </a:pPr>
            <a:endParaRPr lang="en-US" sz="2000" dirty="0">
              <a:solidFill>
                <a:schemeClr val="bg2">
                  <a:lumMod val="50000"/>
                </a:schemeClr>
              </a:solidFill>
            </a:endParaRPr>
          </a:p>
          <a:p>
            <a:pPr marL="0" indent="0" algn="ctr">
              <a:buNone/>
            </a:pPr>
            <a:endParaRPr lang="en-US" sz="2000" dirty="0">
              <a:solidFill>
                <a:schemeClr val="bg2">
                  <a:lumMod val="50000"/>
                </a:schemeClr>
              </a:solidFill>
            </a:endParaRPr>
          </a:p>
          <a:p>
            <a:pPr marL="0" indent="0" algn="ctr">
              <a:buNone/>
            </a:pPr>
            <a:endParaRPr lang="en-US" sz="2000" dirty="0">
              <a:solidFill>
                <a:schemeClr val="bg2">
                  <a:lumMod val="50000"/>
                </a:schemeClr>
              </a:solidFill>
            </a:endParaRPr>
          </a:p>
          <a:p>
            <a:pPr marL="0" indent="0">
              <a:buNone/>
            </a:pPr>
            <a:endParaRPr lang="en-US" dirty="0"/>
          </a:p>
        </p:txBody>
      </p:sp>
      <p:sp>
        <p:nvSpPr>
          <p:cNvPr id="9" name="Footer Placeholder 8">
            <a:extLst>
              <a:ext uri="{FF2B5EF4-FFF2-40B4-BE49-F238E27FC236}">
                <a16:creationId xmlns:a16="http://schemas.microsoft.com/office/drawing/2014/main" id="{D8B6B7C2-7C86-A109-6BCE-A16DF8D00797}"/>
              </a:ext>
            </a:extLst>
          </p:cNvPr>
          <p:cNvSpPr>
            <a:spLocks noGrp="1"/>
          </p:cNvSpPr>
          <p:nvPr>
            <p:ph type="ftr" sz="quarter" idx="11"/>
          </p:nvPr>
        </p:nvSpPr>
        <p:spPr/>
        <p:txBody>
          <a:bodyPr/>
          <a:lstStyle/>
          <a:p>
            <a:r>
              <a:rPr lang="en-US"/>
              <a:t>Healthcare Duplicate MRN Continuous Improvement Analysis • Jen Fordham • 2026</a:t>
            </a:r>
            <a:endParaRPr lang="en-US" dirty="0"/>
          </a:p>
        </p:txBody>
      </p:sp>
      <p:cxnSp>
        <p:nvCxnSpPr>
          <p:cNvPr id="13" name="Straight Connector 12">
            <a:extLst>
              <a:ext uri="{FF2B5EF4-FFF2-40B4-BE49-F238E27FC236}">
                <a16:creationId xmlns:a16="http://schemas.microsoft.com/office/drawing/2014/main" id="{BECA205C-19A1-43A0-49FE-2EE09CEE66B9}"/>
              </a:ext>
            </a:extLst>
          </p:cNvPr>
          <p:cNvCxnSpPr>
            <a:cxnSpLocks/>
          </p:cNvCxnSpPr>
          <p:nvPr/>
        </p:nvCxnSpPr>
        <p:spPr>
          <a:xfrm>
            <a:off x="1338858" y="1538285"/>
            <a:ext cx="9514285" cy="0"/>
          </a:xfrm>
          <a:prstGeom prst="line">
            <a:avLst/>
          </a:prstGeom>
          <a:ln w="50800">
            <a:solidFill>
              <a:srgbClr val="2E7D3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7382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1239</TotalTime>
  <Words>1170</Words>
  <Application>Microsoft Office PowerPoint</Application>
  <PresentationFormat>Widescreen</PresentationFormat>
  <Paragraphs>121</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 Healthcare Duplicate MRN Continuous Improvement Analysis</vt:lpstr>
      <vt:lpstr>What problem are we trying to solve?</vt:lpstr>
      <vt:lpstr>How was the solution developed?</vt:lpstr>
      <vt:lpstr>How was the solution built?</vt:lpstr>
      <vt:lpstr>What did the analysis reveal?</vt:lpstr>
      <vt:lpstr>How can stakeholders explore improvement opportunities?</vt:lpstr>
      <vt:lpstr>Recommended Process Improvements</vt:lpstr>
      <vt:lpstr>Thank you /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jencfordham@gmail.com</dc:creator>
  <cp:lastModifiedBy>jencfordham@gmail.com</cp:lastModifiedBy>
  <cp:revision>33</cp:revision>
  <cp:lastPrinted>2026-07-04T18:32:24Z</cp:lastPrinted>
  <dcterms:created xsi:type="dcterms:W3CDTF">2026-07-03T21:39:39Z</dcterms:created>
  <dcterms:modified xsi:type="dcterms:W3CDTF">2026-07-06T23:24:08Z</dcterms:modified>
</cp:coreProperties>
</file>